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80" r:id="rId5"/>
    <p:sldId id="3584" r:id="rId6"/>
    <p:sldId id="3590" r:id="rId7"/>
    <p:sldId id="3585" r:id="rId8"/>
    <p:sldId id="3555" r:id="rId9"/>
    <p:sldId id="3591" r:id="rId10"/>
    <p:sldId id="3592" r:id="rId11"/>
    <p:sldId id="3574" r:id="rId12"/>
    <p:sldId id="3595" r:id="rId13"/>
    <p:sldId id="3596" r:id="rId14"/>
    <p:sldId id="3597" r:id="rId15"/>
    <p:sldId id="3598" r:id="rId16"/>
    <p:sldId id="3576" r:id="rId17"/>
    <p:sldId id="3577" r:id="rId18"/>
    <p:sldId id="3599" r:id="rId19"/>
    <p:sldId id="3600" r:id="rId20"/>
    <p:sldId id="3581" r:id="rId21"/>
    <p:sldId id="3582" r:id="rId22"/>
    <p:sldId id="3551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B200"/>
    <a:srgbClr val="86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32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2EBF3-9981-AE4E-A299-24F0FF1B73B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81B247-46D5-A645-B0E5-C7C7448993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035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D2157-5119-DFAF-17A3-224E9528C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00E288-F3C6-B6EB-CD06-DC3BB353C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CA2C2E-B3C8-59C8-E9D7-71CFE9F66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E75FBE-14CD-59E7-D845-5C29BFA83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F360E6-395D-504D-AD5A-23B260DDD9C0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6502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52317-2B45-D118-853C-27C6A775B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C2440C-9133-FC1B-502A-26553E76A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80B0E3-360A-D553-A5AD-029BFAB13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48FA86-1DD1-DAD7-9E50-9D6597A88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F360E6-395D-504D-AD5A-23B260DDD9C0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907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17AF2-04FB-5248-DBF2-E9E846630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A6F85CD-B040-9972-84A3-F919DD1FB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B4AFDB-1594-3EDC-0F07-8ACFC9BEE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4367A6-F434-5CF8-CB00-29A3F2067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095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F5CE-C952-7D75-C041-CD7709F4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90CA1C-C9C7-EFCB-D985-EE5719A81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6397CD-91CD-F9FF-0F69-B7B6B6ACF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25B94E-2220-52BF-1795-07AC0DA17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87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AC4C7-265E-DCD7-08D7-1E557B7B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642F506-59E8-B44B-F2D0-2F4884C28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595FECC-7301-7702-CA54-B32CF973E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3FE00B-7320-6304-649C-687FEC872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F360E6-395D-504D-AD5A-23B260DDD9C0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7501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16CD5-5944-F29F-509B-CBD3890C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8277A3-0199-751E-F9ED-854995BAC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C64D3B-E6D8-4897-9131-9918F3205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5627AC-EAEE-DFD2-7699-8D297A579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F360E6-395D-504D-AD5A-23B260DDD9C0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1322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088F-874F-0A00-B0A5-D6F3BFB4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DF86EC-C30B-3363-2533-7EA77689A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DE71CFB-791C-B67F-D2AC-140EC19C8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A90FC2-2A8A-8985-1224-D112A402B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73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DA42-A79A-617D-943E-DFC000FD0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DD13279-48F8-0CB7-A56A-365A681EE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4D03C63-3990-0B46-801F-827DED9B8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D36F7D-79B4-0CC1-9C36-0C6B8770F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759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0595B-8FC8-64F6-CB9B-1C8B1E579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4CE2B0D-230D-00EE-12B5-B5D3FF761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35A2B69-6E99-EE66-9F40-74299E2AD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E0A7E2-41FA-2393-AEF7-856C8EEF5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08741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1D604-35E7-9037-4F14-C010E5ECA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A336476-5618-24B2-6205-3FB447A18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27ABCD0-F658-C7FF-95FC-8A395C404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06DB07-D516-167D-12EF-5D87553EF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216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7EE72-85D6-336A-2F8A-ADA3EE6F9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44E3CF-B1C7-900B-4397-CFB7C72AE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F10DA5B-E4C2-A914-6162-BC88B6942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EF0753-59B2-4967-CEFE-A9C1FD20D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3599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97D03-FE3E-866C-86B8-685382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5F4EA1A-F699-063A-E817-BE985BF4D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7AC616-87A7-3AB7-0DF7-CBC9EA2FB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634684-866B-3FD3-685A-CB7FD6148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468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ECC33-B2AA-F511-E3AD-7654D1B9B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5D70D30-F958-C285-5819-23BDF9DFA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EE7144-22F4-E7D0-AC00-44A56C8CD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E88493-968E-8098-9724-D4BCA88F8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89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24255-90FE-054C-C895-425DE21CA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AB26F0C-9501-141F-C3CE-589A9034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74C769E-6439-8E53-1B7F-ABD7C8ACB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6AE0D5-D09D-D636-C73D-BAD8735EF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8155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4B150-5F17-6368-AB59-96EE0F26D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48E5201-6DD7-0A35-6047-0FB5810B9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22DC65-F750-BBAD-34B6-E664E453D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320F42-3B55-989A-2694-3872EF018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0242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29E74-FC10-CF23-1DA9-D1C0F91B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0FA740-CB98-428A-1EA5-FEBF42502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67BB538-3AF5-3E29-458B-6C0971176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83471F-4E5B-54D0-6B52-ABA2C8FEC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0000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EF30-677D-2E12-BA03-AB2BA1A43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959CABE-BEA2-F8A9-52E0-A659CEECF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1DD5420-A8FA-1314-051E-0B4F6F632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00C3BB-C666-0CC4-AF24-140ADCD6E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360E6-395D-504D-AD5A-23B260DDD9C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2574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390D7-D0B4-5FB6-0290-8C5FCEAA4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174547-8B63-C18F-D701-34F2CC278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AA5AA6-80E2-67AC-22B0-F9E5A68C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6B5B-B7DA-6F4F-AF45-7418DD0E8C3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2B5E98-8241-0EA6-1BDD-F498DC7B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B7D8EA-5280-967E-CA41-4BC6DE42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C432-0B50-D446-81EB-D0F51B116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35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D4604-3E1F-9273-01A9-AE72C9F42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60305E-0915-142D-E7EB-72A1F3DD6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BAFBC0-CDEF-967E-28E2-9815BF54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6B5B-B7DA-6F4F-AF45-7418DD0E8C3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A78092-3ED5-88B9-EB38-9B4F742CD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AB79F6-785F-0160-6106-BC7D4E1D3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C432-0B50-D446-81EB-D0F51B116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94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18D91-E317-9403-A2C9-046DC85D3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41135E-E4CC-42C6-97F4-447BCEA6E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799D56-011A-B332-CB9B-1A115396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6B5B-B7DA-6F4F-AF45-7418DD0E8C3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18A42D-F9FA-46E2-10A0-05D7213D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583BA3-7802-5F2E-04FD-E16268AA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C432-0B50-D446-81EB-D0F51B116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162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32CC2-BBD0-1F86-5E2F-8400318F8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714C66-61F4-6100-41F3-1FE135AB3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681DC0-A0D3-A1AF-4945-10678A7F2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2FF345-A2DD-905B-9EBF-6E152CE68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6B5B-B7DA-6F4F-AF45-7418DD0E8C3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5003CB-154D-F5E4-0BD4-0231BE00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17371E-6A3C-51C7-0B26-187857023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C432-0B50-D446-81EB-D0F51B116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9208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73DDF-1C77-5447-4018-4D43311ED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A80BDF-599B-17F0-8059-37E86755A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253652-07A9-72DB-2078-61516D941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8064AE2-E60D-455E-7181-017D43A51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38FEBE-A686-41A9-1607-5E479FB6B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4B7224-A19D-402F-81B3-562B346C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6B5B-B7DA-6F4F-AF45-7418DD0E8C3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AC1545C-61F3-8CC7-70CC-45592859C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CC0B563-3A32-7D4D-B64F-190E77E46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C432-0B50-D446-81EB-D0F51B116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86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84AD2-B5D6-B28F-923A-D8497E2A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87E899-46C7-11DD-5C18-813483138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6B5B-B7DA-6F4F-AF45-7418DD0E8C3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973C38-FC4F-877E-2540-9F90E97E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9D61B74-865D-6FB4-9560-1FD08FC9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C432-0B50-D446-81EB-D0F51B116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92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A61A1F9-F284-6E3E-D1A0-37E9B7F5E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6B5B-B7DA-6F4F-AF45-7418DD0E8C3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EB997B-9C15-D0B8-9111-382CE87B0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B6297-BA70-F333-326D-894D82273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C432-0B50-D446-81EB-D0F51B116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344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13687-6224-9081-EAD8-6D49E6208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F9C64A-4214-291C-A70F-E92D00166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6E9638-F8E2-91AA-D612-639594C0D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B69816-EF6F-B138-BC3A-6417B7B14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6B5B-B7DA-6F4F-AF45-7418DD0E8C3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5D6240-E4F1-AFBE-5ECB-D677E327E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D957E1-A869-BDA0-6855-D0EBC0F8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C432-0B50-D446-81EB-D0F51B116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980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60641-83C3-1FB2-C529-0CE67C89F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A68D654-298C-4FDE-EDB5-25DB733F4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0C25F5-2D7C-EE86-8826-6ABACC9BB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B3DD1E-BDA7-5D55-8103-FF50A339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6B5B-B7DA-6F4F-AF45-7418DD0E8C3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D0552A-CA9E-C5CF-27BC-FB828BE4C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3FC7CF-A0F0-3510-CE32-44F86CA0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C432-0B50-D446-81EB-D0F51B116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04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DC1FF-CA1D-EA96-68A6-9A3BE76A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969CC2-D8E8-EE09-4C4E-CF6FE585F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F626CD-50FE-5DFA-6C5A-5C71D5BD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6B5B-B7DA-6F4F-AF45-7418DD0E8C3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1B64EB-E276-B184-6BD8-CF05D739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98EAC7-C240-393C-2682-7A0C0241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C432-0B50-D446-81EB-D0F51B116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1917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9C7060-2566-BC26-DE07-6DA5D7EFD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2C31BE-0CDF-DC18-1C6F-3E1A8EB10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2925D0-29FB-75E2-1399-C2DF3C8A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6B5B-B7DA-6F4F-AF45-7418DD0E8C3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2FA696-02B5-D3F8-1FFA-90A3DEF96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EA8A51-0F1B-E4BE-FB6B-BF0133DAC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6C432-0B50-D446-81EB-D0F51B116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829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B31C670-0C51-330D-D204-02D108F6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3FE2A4-D009-2D75-835A-B59096BEA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DF8CA2-F2A1-A8A4-82C9-EDFB884DC1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B6B5B-B7DA-6F4F-AF45-7418DD0E8C36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B11780-4A73-CCE7-DD46-1E97CDEA9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C33DDB-7FC4-B797-68DE-9AA8CBFF1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6C432-0B50-D446-81EB-D0F51B116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46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entralpaineis.cgu.gov.br/visualizar/lai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hyperlink" Target="https://centralpaineis.cgu.gov.br/visualizar/lai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hyperlink" Target="https://www.gov.br/acessoainformacao/pt-br/central-de-conteudo/publicacoes/gta-7-guia-de-transparencia-ativa-final.pdf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BAB28-BB57-4941-6EE8-2099441C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 descr="Pessoas sentadas ao redor de uma mesa com cadeiras&#10;&#10;O conteúdo gerado por IA pode estar incorreto.">
            <a:extLst>
              <a:ext uri="{FF2B5EF4-FFF2-40B4-BE49-F238E27FC236}">
                <a16:creationId xmlns:a16="http://schemas.microsoft.com/office/drawing/2014/main" id="{47576131-72B0-E01F-D6A1-0FBCEC3DA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5" r="27822"/>
          <a:stretch/>
        </p:blipFill>
        <p:spPr>
          <a:xfrm>
            <a:off x="6220496" y="-2"/>
            <a:ext cx="5971504" cy="6857991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6445C2D-E89D-8A8A-61DD-057424684694}"/>
              </a:ext>
            </a:extLst>
          </p:cNvPr>
          <p:cNvSpPr/>
          <p:nvPr/>
        </p:nvSpPr>
        <p:spPr>
          <a:xfrm rot="10800000">
            <a:off x="6220496" y="-2"/>
            <a:ext cx="5971504" cy="6857999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7F1BF47-9647-3357-09F1-ABBE6EE52CF9}"/>
              </a:ext>
            </a:extLst>
          </p:cNvPr>
          <p:cNvCxnSpPr>
            <a:cxnSpLocks/>
          </p:cNvCxnSpPr>
          <p:nvPr/>
        </p:nvCxnSpPr>
        <p:spPr>
          <a:xfrm>
            <a:off x="-7834" y="4603894"/>
            <a:ext cx="4515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9A1E0C2-073F-725E-337C-F98528879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0B246E2-BA9C-E08D-09DD-8AC8E3511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7330" y="1781583"/>
            <a:ext cx="5138670" cy="3119845"/>
          </a:xfrm>
        </p:spPr>
        <p:txBody>
          <a:bodyPr anchor="ctr">
            <a:normAutofit/>
          </a:bodyPr>
          <a:lstStyle/>
          <a:p>
            <a:pPr algn="l"/>
            <a:br>
              <a:rPr lang="pt-BR" sz="4000">
                <a:ln>
                  <a:solidFill>
                    <a:srgbClr val="014B90"/>
                  </a:solidFill>
                </a:ln>
                <a:solidFill>
                  <a:sysClr val="windowText" lastClr="000000"/>
                </a:solidFill>
                <a:latin typeface="Montserrat" pitchFamily="2" charset="77"/>
              </a:rPr>
            </a:br>
            <a:endParaRPr lang="pt-BR" sz="6600">
              <a:solidFill>
                <a:sysClr val="windowText" lastClr="000000"/>
              </a:solidFill>
              <a:latin typeface="Montserrat" pitchFamily="2" charset="77"/>
            </a:endParaRPr>
          </a:p>
        </p:txBody>
      </p:sp>
      <p:sp>
        <p:nvSpPr>
          <p:cNvPr id="9" name="Subtítulo 8">
            <a:extLst>
              <a:ext uri="{FF2B5EF4-FFF2-40B4-BE49-F238E27FC236}">
                <a16:creationId xmlns:a16="http://schemas.microsoft.com/office/drawing/2014/main" id="{D0386D5A-03CF-E7FC-874F-AB0E29F24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3482" y="4714084"/>
            <a:ext cx="3938632" cy="69974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pt-BR" sz="1800" b="1" dirty="0">
                <a:solidFill>
                  <a:srgbClr val="014B90"/>
                </a:solidFill>
                <a:latin typeface="Montserrat"/>
                <a:cs typeface="Arial"/>
              </a:rPr>
              <a:t>Impulsiona </a:t>
            </a:r>
            <a:r>
              <a:rPr lang="pt-BR" sz="1800" dirty="0">
                <a:solidFill>
                  <a:srgbClr val="014B90"/>
                </a:solidFill>
                <a:latin typeface="Montserrat"/>
                <a:cs typeface="Arial"/>
              </a:rPr>
              <a:t>– Desafios de Dados Abertos</a:t>
            </a:r>
          </a:p>
        </p:txBody>
      </p:sp>
      <p:pic>
        <p:nvPicPr>
          <p:cNvPr id="10" name="Espaço Reservado para Conteúdo 7" descr="CGU LAB.jpg">
            <a:extLst>
              <a:ext uri="{FF2B5EF4-FFF2-40B4-BE49-F238E27FC236}">
                <a16:creationId xmlns:a16="http://schemas.microsoft.com/office/drawing/2014/main" id="{3DD0FC41-CB22-3C1C-87EE-F4B49FD785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03483" y="3153212"/>
            <a:ext cx="3162124" cy="13466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609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A9C3-2D94-333D-BFBD-DFA6E59C1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B5B81-D440-820B-85AE-EAAFC2913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pt-BR" sz="5400">
                <a:solidFill>
                  <a:srgbClr val="014B90"/>
                </a:solidFill>
                <a:latin typeface="Bebas Neue" panose="020B0606020202050201" pitchFamily="34" charset="77"/>
              </a:rPr>
              <a:t>Quem somos</a:t>
            </a:r>
            <a:endParaRPr lang="en-US" sz="5400">
              <a:solidFill>
                <a:srgbClr val="014B90"/>
              </a:solidFill>
              <a:latin typeface="Bebas Neue" panose="020B0606020202050201" pitchFamily="34" charset="77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F2F5EBD-FA99-862F-4F94-C7AAEDD991E3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E7F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567E95C5-990E-FFB4-3730-3A9CC8F606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6BA5939-7149-2198-880A-088C035C382E}"/>
              </a:ext>
            </a:extLst>
          </p:cNvPr>
          <p:cNvSpPr txBox="1"/>
          <p:nvPr/>
        </p:nvSpPr>
        <p:spPr>
          <a:xfrm>
            <a:off x="1143017" y="1959649"/>
            <a:ext cx="10509470" cy="28102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9pPr>
          </a:lstStyle>
          <a:p>
            <a:pPr>
              <a:lnSpc>
                <a:spcPct val="150000"/>
              </a:lnSpc>
            </a:pPr>
            <a:r>
              <a:rPr lang="pt-BR" sz="2000" b="1" dirty="0">
                <a:latin typeface="Montserrat"/>
              </a:rPr>
              <a:t>Larissa do Espírito Santo Andrade </a:t>
            </a:r>
            <a:r>
              <a:rPr lang="pt-BR" sz="2000" dirty="0">
                <a:latin typeface="Montserrat"/>
              </a:rPr>
              <a:t>– Coordenadora-Geral de Promoção e Monitoramento de Acesso à Informação </a:t>
            </a:r>
          </a:p>
          <a:p>
            <a:pPr>
              <a:lnSpc>
                <a:spcPct val="150000"/>
              </a:lnSpc>
            </a:pPr>
            <a:r>
              <a:rPr lang="pt-BR" sz="2000" b="1" dirty="0">
                <a:latin typeface="Montserrat"/>
              </a:rPr>
              <a:t>Vinicius de Oliveira Barros </a:t>
            </a:r>
            <a:r>
              <a:rPr lang="pt-BR" sz="2000" dirty="0">
                <a:latin typeface="Montserrat"/>
              </a:rPr>
              <a:t>– Chefe da Divisão de Monitoramento de 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Montserrat"/>
              </a:rPr>
              <a:t>Acesso à Informação </a:t>
            </a:r>
          </a:p>
          <a:p>
            <a:pPr>
              <a:lnSpc>
                <a:spcPct val="150000"/>
              </a:lnSpc>
            </a:pPr>
            <a:r>
              <a:rPr lang="pt-BR" sz="2000" b="1" dirty="0">
                <a:latin typeface="Montserrat"/>
              </a:rPr>
              <a:t>Gustavo Cordeiro </a:t>
            </a:r>
            <a:r>
              <a:rPr lang="pt-BR" sz="2000" dirty="0">
                <a:latin typeface="Montserrat"/>
              </a:rPr>
              <a:t>– Chefe da Divisão de Ciência de Dados para 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Montserrat"/>
              </a:rPr>
              <a:t>Acesso à Informação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B35109B-587C-E5BF-1F79-20002D55F600}"/>
              </a:ext>
            </a:extLst>
          </p:cNvPr>
          <p:cNvSpPr txBox="1"/>
          <p:nvPr/>
        </p:nvSpPr>
        <p:spPr>
          <a:xfrm>
            <a:off x="2620587" y="5307283"/>
            <a:ext cx="755433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dirty="0"/>
              <a:t>Controladoria-Geral da União (CGU)</a:t>
            </a:r>
          </a:p>
          <a:p>
            <a:pPr algn="ctr"/>
            <a:r>
              <a:rPr lang="pt-BR" sz="1500" dirty="0"/>
              <a:t>Secretaria Nacional de Transparência e Acesso à Informação (SNAI)</a:t>
            </a:r>
          </a:p>
          <a:p>
            <a:pPr algn="ctr"/>
            <a:r>
              <a:rPr lang="pt-BR" sz="1500" dirty="0"/>
              <a:t>Diretoria de Articulação, Supervisão e Monitoramento de Acesso à Informação (DASAI)</a:t>
            </a:r>
          </a:p>
          <a:p>
            <a:pPr algn="ctr"/>
            <a:r>
              <a:rPr lang="pt-BR" sz="1500" dirty="0"/>
              <a:t>Coordenação-Geral de Promoção e Monitoramento de Acesso à Informação (CGPMAI)</a:t>
            </a:r>
            <a:br>
              <a:rPr lang="pt-BR" sz="1500" dirty="0"/>
            </a:br>
            <a:r>
              <a:rPr lang="pt-BR" sz="1500" dirty="0"/>
              <a:t>Coordenação-Geral de Solução em Acesso à Informação (CGSAI)</a:t>
            </a:r>
          </a:p>
        </p:txBody>
      </p:sp>
    </p:spTree>
    <p:extLst>
      <p:ext uri="{BB962C8B-B14F-4D97-AF65-F5344CB8AC3E}">
        <p14:creationId xmlns:p14="http://schemas.microsoft.com/office/powerpoint/2010/main" val="102556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AC574-F129-2B7E-DDC1-15845809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C8A88-358D-FB9E-F6A7-0F08940D4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pt-BR" sz="5400" dirty="0">
                <a:solidFill>
                  <a:srgbClr val="014B90"/>
                </a:solidFill>
                <a:latin typeface="Bebas Neue" panose="020B0606020202050201" pitchFamily="34" charset="77"/>
              </a:rPr>
              <a:t>Quem somos</a:t>
            </a:r>
            <a:endParaRPr lang="en-US" sz="5400" dirty="0">
              <a:solidFill>
                <a:srgbClr val="014B90"/>
              </a:solidFill>
              <a:latin typeface="Bebas Neue" panose="020B0606020202050201" pitchFamily="34" charset="77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2B7C638-4ADE-B2F8-898A-C4E30D801C54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E7F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EA41B5F7-EB19-380E-1518-265391F6AE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8B86419-4C22-E3F2-43BC-518E1FD017BB}"/>
              </a:ext>
            </a:extLst>
          </p:cNvPr>
          <p:cNvSpPr txBox="1"/>
          <p:nvPr/>
        </p:nvSpPr>
        <p:spPr>
          <a:xfrm>
            <a:off x="1133873" y="1464862"/>
            <a:ext cx="10509470" cy="56187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900" b="1" dirty="0">
                <a:latin typeface="Montserrat"/>
              </a:rPr>
              <a:t>Direito de Acesso à Informação: </a:t>
            </a:r>
            <a:r>
              <a:rPr lang="en-US" sz="1900" dirty="0">
                <a:latin typeface="Montserrat"/>
              </a:rPr>
              <a:t>art. 5º, XXXIII, </a:t>
            </a:r>
            <a:r>
              <a:rPr lang="en-US" sz="1900" dirty="0" err="1">
                <a:latin typeface="Montserrat"/>
              </a:rPr>
              <a:t>Constituição</a:t>
            </a:r>
            <a:r>
              <a:rPr lang="en-US" sz="1900" dirty="0">
                <a:latin typeface="Montserrat"/>
              </a:rPr>
              <a:t> Federal/88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900" b="1" dirty="0">
              <a:latin typeface="Montserra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900" b="1" dirty="0">
                <a:latin typeface="Montserrat"/>
              </a:rPr>
              <a:t>Lei nº 12.527/2011 (Lei de Acesso à Informação - LAI): </a:t>
            </a:r>
            <a:r>
              <a:rPr lang="pt-BR" sz="1900" dirty="0">
                <a:latin typeface="Montserrat"/>
              </a:rPr>
              <a:t>regula o acesso à informação previsto na Constituição Federal/88</a:t>
            </a:r>
          </a:p>
          <a:p>
            <a:pPr>
              <a:lnSpc>
                <a:spcPct val="150000"/>
              </a:lnSpc>
            </a:pPr>
            <a:endParaRPr lang="pt-BR" sz="1900" dirty="0">
              <a:latin typeface="Montserra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900" b="1" dirty="0">
                <a:latin typeface="Montserrat"/>
              </a:rPr>
              <a:t>Decreto nº 7.724/2012: </a:t>
            </a:r>
            <a:r>
              <a:rPr lang="pt-BR" sz="1900" dirty="0">
                <a:latin typeface="Montserrat"/>
              </a:rPr>
              <a:t>regulamenta a LAI</a:t>
            </a:r>
          </a:p>
          <a:p>
            <a:endParaRPr lang="pt-BR" sz="1400" dirty="0">
              <a:latin typeface="Montserrat"/>
            </a:endParaRPr>
          </a:p>
          <a:p>
            <a:r>
              <a:rPr lang="pt-BR" sz="1400" dirty="0">
                <a:solidFill>
                  <a:srgbClr val="0070C0"/>
                </a:solidFill>
              </a:rPr>
              <a:t>Compete à CGU, dentre outras competências (</a:t>
            </a:r>
            <a:r>
              <a:rPr lang="pt-BR" sz="1400" dirty="0" err="1">
                <a:solidFill>
                  <a:srgbClr val="0070C0"/>
                </a:solidFill>
              </a:rPr>
              <a:t>arts</a:t>
            </a:r>
            <a:r>
              <a:rPr lang="pt-BR" sz="1400" dirty="0">
                <a:solidFill>
                  <a:srgbClr val="0070C0"/>
                </a:solidFill>
              </a:rPr>
              <a:t>. 68 e 69):</a:t>
            </a:r>
          </a:p>
          <a:p>
            <a:pPr marL="171450" indent="-171450">
              <a:buFontTx/>
              <a:buChar char="-"/>
            </a:pPr>
            <a:r>
              <a:rPr lang="pt-BR" sz="1400" b="1" dirty="0">
                <a:solidFill>
                  <a:srgbClr val="0070C0"/>
                </a:solidFill>
              </a:rPr>
              <a:t>Monitorar</a:t>
            </a:r>
            <a:r>
              <a:rPr lang="pt-BR" sz="1400" dirty="0">
                <a:solidFill>
                  <a:srgbClr val="0070C0"/>
                </a:solidFill>
              </a:rPr>
              <a:t> a implementação da Lei nº 12.527, de 2011; </a:t>
            </a:r>
          </a:p>
          <a:p>
            <a:pPr marL="171450" indent="-171450">
              <a:buFontTx/>
              <a:buChar char="-"/>
            </a:pPr>
            <a:r>
              <a:rPr lang="pt-BR" sz="1400" dirty="0">
                <a:solidFill>
                  <a:srgbClr val="0070C0"/>
                </a:solidFill>
              </a:rPr>
              <a:t>Estabelecer procedimentos, regras e padrões de divulgação de informações ao público, fixando prazo máximo para atualização</a:t>
            </a:r>
            <a:r>
              <a:rPr lang="pt-BR" sz="1400" dirty="0">
                <a:solidFill>
                  <a:schemeClr val="dk1"/>
                </a:solidFill>
              </a:rPr>
              <a:t>.</a:t>
            </a:r>
          </a:p>
          <a:p>
            <a:endParaRPr lang="pt-BR" sz="2000" dirty="0">
              <a:latin typeface="Montserra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900" b="1" dirty="0">
                <a:latin typeface="Montserrat"/>
              </a:rPr>
              <a:t>Decreto nº 11.330/2023: </a:t>
            </a:r>
            <a:r>
              <a:rPr lang="pt-BR" sz="1900" dirty="0">
                <a:latin typeface="Montserrat"/>
              </a:rPr>
              <a:t>aprova a Estrutura Regimental da CGU</a:t>
            </a:r>
          </a:p>
          <a:p>
            <a:endParaRPr lang="pt-BR" sz="2000" b="1" dirty="0">
              <a:latin typeface="Montserrat"/>
            </a:endParaRPr>
          </a:p>
          <a:p>
            <a:r>
              <a:rPr lang="pt-BR" sz="1400" dirty="0">
                <a:solidFill>
                  <a:srgbClr val="0070C0"/>
                </a:solidFill>
              </a:rPr>
              <a:t>Art. 31.  À Diretoria de Articulação, Supervisão e Monitoramento de Acesso à Informação compete</a:t>
            </a:r>
          </a:p>
          <a:p>
            <a:r>
              <a:rPr lang="pt-BR" sz="1400" dirty="0">
                <a:solidFill>
                  <a:srgbClr val="0070C0"/>
                </a:solidFill>
              </a:rPr>
              <a:t>...</a:t>
            </a:r>
          </a:p>
          <a:p>
            <a:r>
              <a:rPr lang="pt-BR" sz="1400" dirty="0">
                <a:solidFill>
                  <a:srgbClr val="0070C0"/>
                </a:solidFill>
              </a:rPr>
              <a:t>II - </a:t>
            </a:r>
            <a:r>
              <a:rPr lang="pt-BR" sz="1400" b="1" dirty="0">
                <a:solidFill>
                  <a:srgbClr val="0070C0"/>
                </a:solidFill>
              </a:rPr>
              <a:t>supervisionar, monitorar e avaliar </a:t>
            </a:r>
            <a:r>
              <a:rPr lang="pt-BR" sz="1400" dirty="0">
                <a:solidFill>
                  <a:srgbClr val="0070C0"/>
                </a:solidFill>
              </a:rPr>
              <a:t>a implementação da Lei nº 12.527, de 18 de novembro de 2011, e dar </a:t>
            </a:r>
          </a:p>
          <a:p>
            <a:r>
              <a:rPr lang="pt-BR" sz="1400" dirty="0">
                <a:solidFill>
                  <a:srgbClr val="0070C0"/>
                </a:solidFill>
              </a:rPr>
              <a:t>cumprimento ao disposto nos art. 68 e art. 69 do Decreto nº 7.724, de 16 de maio de 2012;     </a:t>
            </a:r>
          </a:p>
          <a:p>
            <a:pPr>
              <a:lnSpc>
                <a:spcPct val="150000"/>
              </a:lnSpc>
            </a:pPr>
            <a:endParaRPr lang="pt-BR" sz="2000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03568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E3E27-2B7A-391A-0A8D-25E213E38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C51F3-4720-E9D2-73EF-EF27F8196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pt-BR" sz="5400">
                <a:solidFill>
                  <a:srgbClr val="014B90"/>
                </a:solidFill>
                <a:latin typeface="Bebas Neue" panose="020B0606020202050201" pitchFamily="34" charset="77"/>
              </a:rPr>
              <a:t>O desafio</a:t>
            </a:r>
            <a:endParaRPr lang="en-US" sz="5400">
              <a:solidFill>
                <a:srgbClr val="014B90"/>
              </a:solidFill>
              <a:latin typeface="Bebas Neue" panose="020B0606020202050201" pitchFamily="34" charset="77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AF16F17-8C5D-43F5-198C-25378DDB9D89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47FB84F3-ECEE-2834-679C-296C1B82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8E74381-DE8E-1AE0-9A7B-223E928DDD15}"/>
              </a:ext>
            </a:extLst>
          </p:cNvPr>
          <p:cNvSpPr txBox="1"/>
          <p:nvPr/>
        </p:nvSpPr>
        <p:spPr>
          <a:xfrm>
            <a:off x="1330596" y="2094376"/>
            <a:ext cx="10509470" cy="2912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500" dirty="0">
                <a:solidFill>
                  <a:sysClr val="windowText" lastClr="000000"/>
                </a:solidFill>
                <a:latin typeface="Montserrat"/>
              </a:rPr>
              <a:t>Os </a:t>
            </a:r>
            <a:r>
              <a:rPr lang="pt-BR" sz="2500" b="1" dirty="0">
                <a:solidFill>
                  <a:sysClr val="windowText" lastClr="000000"/>
                </a:solidFill>
                <a:latin typeface="Montserrat"/>
              </a:rPr>
              <a:t>servidores da DASAI </a:t>
            </a:r>
            <a:r>
              <a:rPr lang="pt-BR" sz="2500" dirty="0">
                <a:solidFill>
                  <a:sysClr val="windowText" lastClr="000000"/>
                </a:solidFill>
                <a:latin typeface="Montserrat"/>
              </a:rPr>
              <a:t>(Diretoria de Articulação, Supervisão e Monitoramento de Acesso à Informação) precisam </a:t>
            </a:r>
            <a:r>
              <a:rPr lang="pt-BR" sz="2500" b="1" dirty="0">
                <a:solidFill>
                  <a:sysClr val="windowText" lastClr="000000"/>
                </a:solidFill>
                <a:latin typeface="Montserrat"/>
              </a:rPr>
              <a:t>avaliar</a:t>
            </a:r>
            <a:r>
              <a:rPr lang="pt-BR" sz="2500" dirty="0">
                <a:solidFill>
                  <a:sysClr val="windowText" lastClr="000000"/>
                </a:solidFill>
                <a:latin typeface="Montserrat"/>
              </a:rPr>
              <a:t> o cumprimento dos itens de </a:t>
            </a:r>
            <a:r>
              <a:rPr lang="pt-BR" sz="2500" b="1" dirty="0">
                <a:solidFill>
                  <a:sysClr val="windowText" lastClr="000000"/>
                </a:solidFill>
                <a:latin typeface="Montserrat"/>
              </a:rPr>
              <a:t>transparência ativa </a:t>
            </a:r>
            <a:r>
              <a:rPr lang="pt-BR" sz="2500" dirty="0">
                <a:solidFill>
                  <a:sysClr val="windowText" lastClr="000000"/>
                </a:solidFill>
                <a:latin typeface="Montserrat"/>
              </a:rPr>
              <a:t>de forma </a:t>
            </a:r>
            <a:r>
              <a:rPr lang="pt-BR" sz="2500" b="1" dirty="0">
                <a:solidFill>
                  <a:sysClr val="windowText" lastClr="000000"/>
                </a:solidFill>
                <a:latin typeface="Montserrat"/>
              </a:rPr>
              <a:t>ágil, contínua e técnica</a:t>
            </a:r>
            <a:r>
              <a:rPr lang="pt-BR" sz="2500" dirty="0">
                <a:solidFill>
                  <a:sysClr val="windowText" lastClr="000000"/>
                </a:solidFill>
                <a:latin typeface="Montserrat"/>
              </a:rPr>
              <a:t> para aprimorar a transparência da Administração Pública federal. </a:t>
            </a:r>
          </a:p>
        </p:txBody>
      </p:sp>
    </p:spTree>
    <p:extLst>
      <p:ext uri="{BB962C8B-B14F-4D97-AF65-F5344CB8AC3E}">
        <p14:creationId xmlns:p14="http://schemas.microsoft.com/office/powerpoint/2010/main" val="400694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2CB9A-74FC-311A-D964-A68CDE4A4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5FE33-3019-5876-0EA0-6253EB7C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en-US" sz="5400" dirty="0" err="1">
                <a:solidFill>
                  <a:srgbClr val="014B90"/>
                </a:solidFill>
                <a:latin typeface="Bebas Neue" panose="020B0606020202050201" pitchFamily="34" charset="77"/>
              </a:rPr>
              <a:t>cONTEXTO</a:t>
            </a:r>
            <a:endParaRPr lang="en-US" sz="5400" dirty="0">
              <a:solidFill>
                <a:srgbClr val="014B90"/>
              </a:solidFill>
              <a:latin typeface="Bebas Neue" panose="020B0606020202050201" pitchFamily="34" charset="77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B1CF785-4029-11B7-2137-F35C35E06BA5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190058B9-DEC2-DD6F-CD69-D03CDAE51E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AB057FF-332A-0078-C437-955A1EC25A4E}"/>
              </a:ext>
            </a:extLst>
          </p:cNvPr>
          <p:cNvSpPr/>
          <p:nvPr/>
        </p:nvSpPr>
        <p:spPr>
          <a:xfrm>
            <a:off x="1010556" y="1777106"/>
            <a:ext cx="3359020" cy="12129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9pPr>
          </a:lstStyle>
          <a:p>
            <a:pPr algn="ctr"/>
            <a:r>
              <a:rPr lang="pt-BR" sz="2200" b="1" dirty="0">
                <a:solidFill>
                  <a:sysClr val="windowText" lastClr="000000"/>
                </a:solidFill>
                <a:latin typeface="Montserrat"/>
              </a:rPr>
              <a:t>Transparência Passiva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5E2B486-05E0-0CB3-BB0D-CB1D7F46ADED}"/>
              </a:ext>
            </a:extLst>
          </p:cNvPr>
          <p:cNvSpPr/>
          <p:nvPr/>
        </p:nvSpPr>
        <p:spPr>
          <a:xfrm>
            <a:off x="4848647" y="1770948"/>
            <a:ext cx="3359020" cy="12129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9pPr>
          </a:lstStyle>
          <a:p>
            <a:pPr algn="ctr"/>
            <a:r>
              <a:rPr lang="pt-BR" sz="2200" b="1" dirty="0">
                <a:solidFill>
                  <a:sysClr val="windowText" lastClr="000000"/>
                </a:solidFill>
                <a:latin typeface="Montserrat"/>
              </a:rPr>
              <a:t>Transparência </a:t>
            </a:r>
          </a:p>
          <a:p>
            <a:pPr algn="ctr"/>
            <a:r>
              <a:rPr lang="pt-BR" sz="2200" b="1" dirty="0">
                <a:solidFill>
                  <a:sysClr val="windowText" lastClr="000000"/>
                </a:solidFill>
                <a:latin typeface="Montserrat"/>
              </a:rPr>
              <a:t>Ativa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F436E9D-4EF6-E36C-0BDC-B6674A4099FB}"/>
              </a:ext>
            </a:extLst>
          </p:cNvPr>
          <p:cNvSpPr/>
          <p:nvPr/>
        </p:nvSpPr>
        <p:spPr>
          <a:xfrm>
            <a:off x="8686738" y="1770948"/>
            <a:ext cx="3359020" cy="12129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" lastClr="FFFFFF"/>
                </a:solidFill>
                <a:latin typeface="Calibri" panose="020F0502020204030204"/>
              </a:defRPr>
            </a:lvl9pPr>
          </a:lstStyle>
          <a:p>
            <a:pPr algn="ctr"/>
            <a:r>
              <a:rPr lang="pt-BR" sz="2200" b="1" dirty="0">
                <a:solidFill>
                  <a:sysClr val="windowText" lastClr="000000"/>
                </a:solidFill>
                <a:latin typeface="Montserrat"/>
              </a:rPr>
              <a:t>Dados abertos</a:t>
            </a:r>
          </a:p>
        </p:txBody>
      </p:sp>
      <p:sp>
        <p:nvSpPr>
          <p:cNvPr id="7" name="CaixaDeTexto 35">
            <a:extLst>
              <a:ext uri="{FF2B5EF4-FFF2-40B4-BE49-F238E27FC236}">
                <a16:creationId xmlns:a16="http://schemas.microsoft.com/office/drawing/2014/main" id="{8A4F7742-F9D0-8107-17B5-123F7F0B58F2}"/>
              </a:ext>
            </a:extLst>
          </p:cNvPr>
          <p:cNvSpPr txBox="1"/>
          <p:nvPr/>
        </p:nvSpPr>
        <p:spPr>
          <a:xfrm>
            <a:off x="1162920" y="3050528"/>
            <a:ext cx="3054292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9pPr>
          </a:lstStyle>
          <a:p>
            <a:pPr algn="ctr"/>
            <a:r>
              <a:rPr lang="pt-BR" dirty="0">
                <a:latin typeface="Montserrat"/>
              </a:rPr>
              <a:t>Resposta a demandas individuais de pedidos de informação</a:t>
            </a:r>
          </a:p>
        </p:txBody>
      </p:sp>
      <p:sp>
        <p:nvSpPr>
          <p:cNvPr id="8" name="CaixaDeTexto 39">
            <a:extLst>
              <a:ext uri="{FF2B5EF4-FFF2-40B4-BE49-F238E27FC236}">
                <a16:creationId xmlns:a16="http://schemas.microsoft.com/office/drawing/2014/main" id="{22BF3FA5-F634-897D-1EE4-6D8C6055FEDE}"/>
              </a:ext>
            </a:extLst>
          </p:cNvPr>
          <p:cNvSpPr txBox="1"/>
          <p:nvPr/>
        </p:nvSpPr>
        <p:spPr>
          <a:xfrm>
            <a:off x="5001011" y="3050528"/>
            <a:ext cx="3054292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9pPr>
          </a:lstStyle>
          <a:p>
            <a:pPr algn="ctr"/>
            <a:r>
              <a:rPr lang="pt-BR" dirty="0">
                <a:latin typeface="Montserrat"/>
              </a:rPr>
              <a:t>Publicação proativa de informações de interesse coletivo e geral</a:t>
            </a:r>
          </a:p>
        </p:txBody>
      </p:sp>
      <p:sp>
        <p:nvSpPr>
          <p:cNvPr id="9" name="CaixaDeTexto 43">
            <a:extLst>
              <a:ext uri="{FF2B5EF4-FFF2-40B4-BE49-F238E27FC236}">
                <a16:creationId xmlns:a16="http://schemas.microsoft.com/office/drawing/2014/main" id="{426A1B18-C7CB-BF7B-1A3E-98A9C496C826}"/>
              </a:ext>
            </a:extLst>
          </p:cNvPr>
          <p:cNvSpPr txBox="1"/>
          <p:nvPr/>
        </p:nvSpPr>
        <p:spPr>
          <a:xfrm>
            <a:off x="8930987" y="3050528"/>
            <a:ext cx="2870521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1pPr>
            <a:lvl2pPr marL="457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2pPr>
            <a:lvl3pPr marL="914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3pPr>
            <a:lvl4pPr marL="1371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4pPr>
            <a:lvl5pPr marL="18288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5pPr>
            <a:lvl6pPr marL="22860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6pPr>
            <a:lvl7pPr marL="27432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7pPr>
            <a:lvl8pPr marL="32004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8pPr>
            <a:lvl9pPr marL="3657600" algn="l" defTabSz="457200" rtl="0" eaLnBrk="1" latinLnBrk="0" hangingPunct="1">
              <a:defRPr sz="1800" kern="1200">
                <a:solidFill>
                  <a:sysClr val="windowText" lastClr="000000"/>
                </a:solidFill>
                <a:latin typeface="Calibri" panose="020F0502020204030204"/>
              </a:defRPr>
            </a:lvl9pPr>
          </a:lstStyle>
          <a:p>
            <a:pPr algn="ctr"/>
            <a:r>
              <a:rPr lang="pt-BR" dirty="0">
                <a:latin typeface="Montserrat"/>
              </a:rPr>
              <a:t>Publicação de dados em formato aberto</a:t>
            </a:r>
            <a:br>
              <a:rPr lang="pt-BR" dirty="0">
                <a:latin typeface="Montserrat"/>
              </a:rPr>
            </a:br>
            <a:r>
              <a:rPr lang="pt-BR" sz="1200" dirty="0">
                <a:latin typeface="Montserrat"/>
              </a:rPr>
              <a:t>(estruturado, legível por máquina, de livre acesso e uso)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ABF9006-2A96-1248-0A04-DE42333BD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535" y="4428112"/>
            <a:ext cx="3827081" cy="168693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6AF215F-30A4-A820-3785-D039E648BA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647" y="4380223"/>
            <a:ext cx="3388833" cy="222584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EFA05A2-8F4F-776D-F946-23CEF0F0EF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3662" y="4405136"/>
            <a:ext cx="3465169" cy="222902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F865E34-222E-D6EC-4E9E-304E63AAE836}"/>
              </a:ext>
            </a:extLst>
          </p:cNvPr>
          <p:cNvSpPr txBox="1"/>
          <p:nvPr/>
        </p:nvSpPr>
        <p:spPr>
          <a:xfrm>
            <a:off x="2334608" y="4128137"/>
            <a:ext cx="1417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ysClr val="windowText" lastClr="000000"/>
                </a:solidFill>
                <a:latin typeface="Montserrat"/>
              </a:rPr>
              <a:t>Fala.BR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BF368F0-0D0D-A328-6E79-A7FFAD8AC274}"/>
              </a:ext>
            </a:extLst>
          </p:cNvPr>
          <p:cNvSpPr txBox="1"/>
          <p:nvPr/>
        </p:nvSpPr>
        <p:spPr>
          <a:xfrm>
            <a:off x="5486142" y="4100335"/>
            <a:ext cx="3054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ysClr val="windowText" lastClr="000000"/>
                </a:solidFill>
                <a:latin typeface="Montserrat"/>
              </a:rPr>
              <a:t>Portal da Transparência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C754374-209E-7E2A-A4C9-F9B662391C2B}"/>
              </a:ext>
            </a:extLst>
          </p:cNvPr>
          <p:cNvSpPr txBox="1"/>
          <p:nvPr/>
        </p:nvSpPr>
        <p:spPr>
          <a:xfrm>
            <a:off x="9334199" y="4128136"/>
            <a:ext cx="3054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ysClr val="windowText" lastClr="000000"/>
                </a:solidFill>
                <a:latin typeface="Montserrat"/>
              </a:rPr>
              <a:t>Portal de Dados Abertos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3F05133-9357-35D4-3E22-9B92510C29AF}"/>
              </a:ext>
            </a:extLst>
          </p:cNvPr>
          <p:cNvSpPr txBox="1"/>
          <p:nvPr/>
        </p:nvSpPr>
        <p:spPr>
          <a:xfrm>
            <a:off x="4717616" y="1012312"/>
            <a:ext cx="10509470" cy="5019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9pPr>
          </a:lstStyle>
          <a:p>
            <a:pPr>
              <a:lnSpc>
                <a:spcPct val="150000"/>
              </a:lnSpc>
            </a:pPr>
            <a:r>
              <a:rPr lang="pt-BR" sz="2000" b="1" dirty="0">
                <a:solidFill>
                  <a:schemeClr val="tx1"/>
                </a:solidFill>
                <a:latin typeface="Montserrat"/>
              </a:rPr>
              <a:t>ACESSO À INFORMAÇÃO</a:t>
            </a:r>
            <a:endParaRPr lang="pt-BR" b="1" dirty="0">
              <a:solidFill>
                <a:schemeClr val="tx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388089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D025-B76E-4EF7-3C1D-911D65379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A4F9F-A513-D366-92AA-96FD45BAD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pt-BR" sz="5400" dirty="0">
                <a:solidFill>
                  <a:srgbClr val="014B90"/>
                </a:solidFill>
                <a:latin typeface="Bebas Neue" panose="020B0606020202050201" pitchFamily="34" charset="77"/>
              </a:rPr>
              <a:t>CONTEXTO</a:t>
            </a:r>
            <a:endParaRPr lang="en-US" sz="5400" dirty="0">
              <a:solidFill>
                <a:srgbClr val="014B90"/>
              </a:solidFill>
              <a:latin typeface="Bebas Neue" panose="020B0606020202050201" pitchFamily="34" charset="77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425B506-0F11-A0D4-95B0-B2AF1095E45F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E7F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43B449EF-9F2A-4BED-8773-92AD3CC309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A3AFEB8-3F93-9C22-CE10-48EF71076F67}"/>
              </a:ext>
            </a:extLst>
          </p:cNvPr>
          <p:cNvSpPr txBox="1"/>
          <p:nvPr/>
        </p:nvSpPr>
        <p:spPr>
          <a:xfrm>
            <a:off x="1179593" y="1570169"/>
            <a:ext cx="10509470" cy="9226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9pPr>
          </a:lstStyle>
          <a:p>
            <a:pPr>
              <a:lnSpc>
                <a:spcPct val="150000"/>
              </a:lnSpc>
            </a:pPr>
            <a:r>
              <a:rPr lang="pt-BR" sz="2000" b="1" dirty="0">
                <a:latin typeface="Montserrat"/>
              </a:rPr>
              <a:t>PADRONIZAÇÃO DA TRANSPARÊNCIA ATIVA: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00B050"/>
                </a:solidFill>
                <a:latin typeface="Montserrat"/>
              </a:rPr>
              <a:t>PREVISÃO NORMATIVA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574BC0-C30F-AD70-4A76-933DEAB894FA}"/>
              </a:ext>
            </a:extLst>
          </p:cNvPr>
          <p:cNvSpPr txBox="1"/>
          <p:nvPr/>
        </p:nvSpPr>
        <p:spPr>
          <a:xfrm>
            <a:off x="296513" y="3051357"/>
            <a:ext cx="4445899" cy="871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9pPr>
          </a:lstStyle>
          <a:p>
            <a:pPr marL="0" lvl="0" indent="0" algn="ctr">
              <a:lnSpc>
                <a:spcPts val="3620"/>
              </a:lnSpc>
              <a:spcBef>
                <a:spcPct val="0"/>
              </a:spcBef>
            </a:pPr>
            <a:r>
              <a:rPr lang="pt-BR" sz="2000" b="1" dirty="0">
                <a:latin typeface="Montserrat"/>
                <a:sym typeface="Arial Unicode Bold"/>
              </a:rPr>
              <a:t>Lei nº </a:t>
            </a:r>
          </a:p>
          <a:p>
            <a:pPr marL="0" lvl="0" indent="0" algn="ctr">
              <a:lnSpc>
                <a:spcPts val="3620"/>
              </a:lnSpc>
              <a:spcBef>
                <a:spcPct val="0"/>
              </a:spcBef>
            </a:pPr>
            <a:r>
              <a:rPr lang="pt-BR" sz="2000" b="1" dirty="0">
                <a:latin typeface="Montserrat"/>
                <a:sym typeface="Arial Unicode Bold"/>
              </a:rPr>
              <a:t>12.527/2011 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00A4DE56-8BAE-382D-7448-58848659AE61}"/>
              </a:ext>
            </a:extLst>
          </p:cNvPr>
          <p:cNvSpPr txBox="1"/>
          <p:nvPr/>
        </p:nvSpPr>
        <p:spPr>
          <a:xfrm>
            <a:off x="3873050" y="3048618"/>
            <a:ext cx="4445899" cy="871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9pPr>
          </a:lstStyle>
          <a:p>
            <a:pPr marL="0" lvl="0" indent="0" algn="ctr">
              <a:lnSpc>
                <a:spcPts val="3620"/>
              </a:lnSpc>
            </a:pPr>
            <a:r>
              <a:rPr lang="pt-BR" sz="2000" b="1" dirty="0">
                <a:latin typeface="Montserrat"/>
                <a:sym typeface="Arial Unicode Bold"/>
              </a:rPr>
              <a:t>Decreto nº </a:t>
            </a:r>
          </a:p>
          <a:p>
            <a:pPr marL="0" lvl="0" indent="0" algn="ctr">
              <a:lnSpc>
                <a:spcPts val="3620"/>
              </a:lnSpc>
            </a:pPr>
            <a:r>
              <a:rPr lang="pt-BR" sz="2000" b="1" dirty="0">
                <a:latin typeface="Montserrat"/>
                <a:sym typeface="Arial Unicode Bold"/>
              </a:rPr>
              <a:t>7.724/2012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1286821A-5308-8960-6A12-1A9CE22CB0E0}"/>
              </a:ext>
            </a:extLst>
          </p:cNvPr>
          <p:cNvSpPr txBox="1"/>
          <p:nvPr/>
        </p:nvSpPr>
        <p:spPr>
          <a:xfrm>
            <a:off x="7641513" y="3101638"/>
            <a:ext cx="4977986" cy="82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9pPr>
          </a:lstStyle>
          <a:p>
            <a:pPr marL="0" lvl="0" indent="0" algn="ctr">
              <a:lnSpc>
                <a:spcPts val="3436"/>
              </a:lnSpc>
            </a:pPr>
            <a:r>
              <a:rPr lang="pt-BR" sz="2000" b="1" dirty="0">
                <a:latin typeface="Montserrat"/>
                <a:sym typeface="Arial Unicode Bold"/>
              </a:rPr>
              <a:t>Guia de </a:t>
            </a:r>
          </a:p>
          <a:p>
            <a:pPr marL="0" lvl="0" indent="0" algn="ctr">
              <a:lnSpc>
                <a:spcPts val="3436"/>
              </a:lnSpc>
            </a:pPr>
            <a:r>
              <a:rPr lang="pt-BR" sz="2000" b="1" dirty="0">
                <a:latin typeface="Montserrat"/>
                <a:sym typeface="Arial Unicode Bold"/>
              </a:rPr>
              <a:t>Transparência Ativa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6EEEF-56AE-605C-2510-BB2B88230253}"/>
              </a:ext>
            </a:extLst>
          </p:cNvPr>
          <p:cNvSpPr txBox="1"/>
          <p:nvPr/>
        </p:nvSpPr>
        <p:spPr>
          <a:xfrm>
            <a:off x="1165914" y="4099020"/>
            <a:ext cx="3253548" cy="1156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9pPr>
          </a:lstStyle>
          <a:p>
            <a:pPr marL="285750" lvl="0" indent="-285750">
              <a:lnSpc>
                <a:spcPts val="23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latin typeface="Montserrat"/>
                <a:sym typeface="Arial Unicode"/>
              </a:rPr>
              <a:t>Cria a obrigatoriedade </a:t>
            </a:r>
          </a:p>
          <a:p>
            <a:pPr marL="0" lvl="0" indent="0">
              <a:lnSpc>
                <a:spcPts val="2300"/>
              </a:lnSpc>
              <a:spcBef>
                <a:spcPct val="0"/>
              </a:spcBef>
            </a:pPr>
            <a:r>
              <a:rPr lang="pt-BR" sz="1400" dirty="0">
                <a:latin typeface="Montserrat"/>
                <a:sym typeface="Arial Unicode"/>
              </a:rPr>
              <a:t>de publicação, em transparência ativa, de informações de interesse </a:t>
            </a:r>
          </a:p>
          <a:p>
            <a:pPr marL="0" lvl="0" indent="0">
              <a:lnSpc>
                <a:spcPts val="2300"/>
              </a:lnSpc>
              <a:spcBef>
                <a:spcPct val="0"/>
              </a:spcBef>
            </a:pPr>
            <a:r>
              <a:rPr lang="pt-BR" sz="1400" dirty="0">
                <a:latin typeface="Montserrat"/>
                <a:sym typeface="Arial Unicode"/>
              </a:rPr>
              <a:t>coletivo ou geral (art. 8º</a:t>
            </a:r>
            <a:r>
              <a:rPr lang="pt-BR" sz="1600" dirty="0">
                <a:latin typeface="Montserrat"/>
                <a:sym typeface="Arial Unicode"/>
              </a:rPr>
              <a:t>)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8DB527D2-49C8-ADF6-6151-C32F6D0C10AE}"/>
              </a:ext>
            </a:extLst>
          </p:cNvPr>
          <p:cNvSpPr txBox="1"/>
          <p:nvPr/>
        </p:nvSpPr>
        <p:spPr>
          <a:xfrm>
            <a:off x="3952120" y="4074144"/>
            <a:ext cx="4122988" cy="2035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9pPr>
          </a:lstStyle>
          <a:p>
            <a:pPr marL="550770" lvl="1" indent="-275385" algn="l">
              <a:lnSpc>
                <a:spcPts val="2300"/>
              </a:lnSpc>
              <a:buFont typeface="Arial"/>
              <a:buChar char="•"/>
            </a:pPr>
            <a:r>
              <a:rPr lang="pt-BR" sz="1400" dirty="0">
                <a:latin typeface="Montserrat"/>
                <a:sym typeface="Arial Unicode"/>
              </a:rPr>
              <a:t>Dispõe sobre quais informações mínimas devem ser reunidas em seção </a:t>
            </a:r>
            <a:r>
              <a:rPr lang="pt-BR" sz="1400" dirty="0">
                <a:latin typeface="Montserrat"/>
                <a:sym typeface="Arial Unicode Bold"/>
              </a:rPr>
              <a:t>específica dos sítios</a:t>
            </a:r>
            <a:r>
              <a:rPr lang="pt-BR" sz="1400" dirty="0">
                <a:latin typeface="Montserrat"/>
                <a:sym typeface="Arial Unicode"/>
              </a:rPr>
              <a:t> oficiais (Art. 7º, §1º)</a:t>
            </a:r>
          </a:p>
          <a:p>
            <a:pPr marL="550770" lvl="1" indent="-275385" algn="l">
              <a:lnSpc>
                <a:spcPts val="2300"/>
              </a:lnSpc>
              <a:buFont typeface="Arial"/>
              <a:buChar char="•"/>
            </a:pPr>
            <a:r>
              <a:rPr lang="pt-BR" sz="1400" dirty="0">
                <a:latin typeface="Montserrat"/>
                <a:sym typeface="Arial Unicode"/>
              </a:rPr>
              <a:t>Define a competência da CGU para estabelecer procedimentos, regras e padrões de divulgação de informações ao público (Art. 69º, I)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1C9D70F7-37A0-4700-B3FD-F7C87E846112}"/>
              </a:ext>
            </a:extLst>
          </p:cNvPr>
          <p:cNvSpPr txBox="1"/>
          <p:nvPr/>
        </p:nvSpPr>
        <p:spPr>
          <a:xfrm>
            <a:off x="8069012" y="4071612"/>
            <a:ext cx="4122988" cy="2035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Corbel" panose="020B0503020204020204"/>
              </a:defRPr>
            </a:lvl9pPr>
          </a:lstStyle>
          <a:p>
            <a:pPr marL="550770" lvl="1" indent="-275385" algn="l">
              <a:lnSpc>
                <a:spcPts val="2300"/>
              </a:lnSpc>
              <a:buFont typeface="Arial"/>
              <a:buChar char="•"/>
            </a:pPr>
            <a:r>
              <a:rPr lang="pt-BR" sz="1400" dirty="0">
                <a:latin typeface="Montserrat"/>
                <a:sym typeface="Arial Unicode"/>
              </a:rPr>
              <a:t>Apresenta uma compilação das normais legais e infralegais que tratam de obrigação de transparência ativa</a:t>
            </a:r>
          </a:p>
          <a:p>
            <a:pPr marL="550770" lvl="1" indent="-275385" algn="l">
              <a:lnSpc>
                <a:spcPts val="2300"/>
              </a:lnSpc>
              <a:buFont typeface="Arial"/>
              <a:buChar char="•"/>
            </a:pPr>
            <a:r>
              <a:rPr lang="pt-BR" sz="1400" dirty="0">
                <a:latin typeface="Montserrat"/>
                <a:sym typeface="Arial Unicode"/>
              </a:rPr>
              <a:t>É referência para o Poder Executivo federal quanto às obrigações vigentes</a:t>
            </a:r>
          </a:p>
          <a:p>
            <a:pPr marL="550770" lvl="1" indent="-275385" algn="l">
              <a:lnSpc>
                <a:spcPts val="2300"/>
              </a:lnSpc>
              <a:buFont typeface="Arial"/>
              <a:buChar char="•"/>
            </a:pPr>
            <a:r>
              <a:rPr lang="pt-BR" sz="1400" dirty="0">
                <a:latin typeface="Montserrat"/>
                <a:sym typeface="Arial Unicode"/>
              </a:rPr>
              <a:t>Padroniza a forma de disponibilização das informações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2A8F053-1CF2-BCDE-FB98-F2D505350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8439" y="549439"/>
            <a:ext cx="1823968" cy="246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85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993A7-639D-52E6-BC7D-5D04DB6E0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17369-4EB5-898E-6FA5-3F22A4421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rgbClr val="014B90"/>
                </a:solidFill>
                <a:latin typeface="Bebas Neue" panose="020B0606020202050201" pitchFamily="34" charset="77"/>
              </a:rPr>
              <a:t>CONTEXTO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559C166-FF20-FFA6-F84A-B3F3DB8004BE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E7F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A0C04420-7052-70FF-1361-87D0E76660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0D15564-3278-9F5A-4D76-CDD0AE451090}"/>
              </a:ext>
            </a:extLst>
          </p:cNvPr>
          <p:cNvSpPr txBox="1"/>
          <p:nvPr/>
        </p:nvSpPr>
        <p:spPr>
          <a:xfrm>
            <a:off x="1179593" y="1570169"/>
            <a:ext cx="10509470" cy="9226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9pPr>
          </a:lstStyle>
          <a:p>
            <a:pPr>
              <a:lnSpc>
                <a:spcPct val="150000"/>
              </a:lnSpc>
            </a:pPr>
            <a:r>
              <a:rPr lang="pt-BR" sz="2000" b="1" dirty="0">
                <a:latin typeface="Montserrat"/>
              </a:rPr>
              <a:t>PADRONIZAÇÃO DA TRANSPARÊNCIA ATIVA: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00B050"/>
                </a:solidFill>
                <a:latin typeface="Montserrat"/>
              </a:rPr>
              <a:t>BENEFÍCIOS</a:t>
            </a:r>
          </a:p>
        </p:txBody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AFB99778-7F6D-B219-1C9F-B744F1D2C92B}"/>
              </a:ext>
            </a:extLst>
          </p:cNvPr>
          <p:cNvGrpSpPr/>
          <p:nvPr/>
        </p:nvGrpSpPr>
        <p:grpSpPr>
          <a:xfrm>
            <a:off x="1249292" y="3164702"/>
            <a:ext cx="2320185" cy="1581772"/>
            <a:chOff x="0" y="0"/>
            <a:chExt cx="463574" cy="327016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E22CAC2B-A1A2-F4A7-49F1-7ADDCBDDB5B9}"/>
                </a:ext>
              </a:extLst>
            </p:cNvPr>
            <p:cNvSpPr/>
            <p:nvPr/>
          </p:nvSpPr>
          <p:spPr>
            <a:xfrm>
              <a:off x="0" y="0"/>
              <a:ext cx="463574" cy="327016"/>
            </a:xfrm>
            <a:custGeom>
              <a:avLst/>
              <a:gdLst/>
              <a:ahLst/>
              <a:cxnLst/>
              <a:rect l="l" t="t" r="r" b="b"/>
              <a:pathLst>
                <a:path w="463574" h="327016">
                  <a:moveTo>
                    <a:pt x="0" y="0"/>
                  </a:moveTo>
                  <a:lnTo>
                    <a:pt x="463574" y="0"/>
                  </a:lnTo>
                  <a:lnTo>
                    <a:pt x="463574" y="327016"/>
                  </a:lnTo>
                  <a:lnTo>
                    <a:pt x="0" y="327016"/>
                  </a:lnTo>
                  <a:close/>
                </a:path>
              </a:pathLst>
            </a:custGeom>
            <a:blipFill>
              <a:blip r:embed="rId4"/>
              <a:stretch>
                <a:fillRect l="-2939" r="-2939"/>
              </a:stretch>
            </a:blip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pPr defTabSz="609630"/>
              <a:endParaRPr lang="pt-BR" sz="1200" dirty="0">
                <a:solidFill>
                  <a:prstClr val="black"/>
                </a:solidFill>
                <a:latin typeface="Corbel" panose="020B0503020204020204"/>
              </a:endParaRPr>
            </a:p>
          </p:txBody>
        </p:sp>
      </p:grpSp>
      <p:grpSp>
        <p:nvGrpSpPr>
          <p:cNvPr id="12" name="Group 6">
            <a:extLst>
              <a:ext uri="{FF2B5EF4-FFF2-40B4-BE49-F238E27FC236}">
                <a16:creationId xmlns:a16="http://schemas.microsoft.com/office/drawing/2014/main" id="{09757C15-01F7-4095-3BFE-85B86F7BBC8E}"/>
              </a:ext>
            </a:extLst>
          </p:cNvPr>
          <p:cNvGrpSpPr/>
          <p:nvPr/>
        </p:nvGrpSpPr>
        <p:grpSpPr>
          <a:xfrm>
            <a:off x="3917893" y="3164702"/>
            <a:ext cx="2516435" cy="1581772"/>
            <a:chOff x="0" y="0"/>
            <a:chExt cx="463574" cy="327016"/>
          </a:xfrm>
        </p:grpSpPr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7A2844F-14CC-50C8-5CA8-D78C68774E85}"/>
                </a:ext>
              </a:extLst>
            </p:cNvPr>
            <p:cNvSpPr/>
            <p:nvPr/>
          </p:nvSpPr>
          <p:spPr>
            <a:xfrm>
              <a:off x="0" y="0"/>
              <a:ext cx="463574" cy="327016"/>
            </a:xfrm>
            <a:custGeom>
              <a:avLst/>
              <a:gdLst/>
              <a:ahLst/>
              <a:cxnLst/>
              <a:rect l="l" t="t" r="r" b="b"/>
              <a:pathLst>
                <a:path w="463574" h="327016">
                  <a:moveTo>
                    <a:pt x="0" y="0"/>
                  </a:moveTo>
                  <a:lnTo>
                    <a:pt x="463574" y="0"/>
                  </a:lnTo>
                  <a:lnTo>
                    <a:pt x="463574" y="327016"/>
                  </a:lnTo>
                  <a:lnTo>
                    <a:pt x="0" y="327016"/>
                  </a:lnTo>
                  <a:close/>
                </a:path>
              </a:pathLst>
            </a:custGeom>
            <a:blipFill>
              <a:blip r:embed="rId5"/>
              <a:stretch>
                <a:fillRect l="-2906" r="-2906"/>
              </a:stretch>
            </a:blip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pPr defTabSz="609630"/>
              <a:endParaRPr lang="pt-BR" sz="1200" dirty="0">
                <a:solidFill>
                  <a:prstClr val="black"/>
                </a:solidFill>
                <a:latin typeface="Corbel" panose="020B0503020204020204"/>
              </a:endParaRPr>
            </a:p>
          </p:txBody>
        </p:sp>
      </p:grpSp>
      <p:grpSp>
        <p:nvGrpSpPr>
          <p:cNvPr id="14" name="Group 12">
            <a:extLst>
              <a:ext uri="{FF2B5EF4-FFF2-40B4-BE49-F238E27FC236}">
                <a16:creationId xmlns:a16="http://schemas.microsoft.com/office/drawing/2014/main" id="{481552F1-CF80-2F91-74E3-78372C3E2B7E}"/>
              </a:ext>
            </a:extLst>
          </p:cNvPr>
          <p:cNvGrpSpPr/>
          <p:nvPr/>
        </p:nvGrpSpPr>
        <p:grpSpPr>
          <a:xfrm>
            <a:off x="6782744" y="3164702"/>
            <a:ext cx="2211599" cy="1581772"/>
            <a:chOff x="0" y="0"/>
            <a:chExt cx="459808" cy="327016"/>
          </a:xfrm>
        </p:grpSpPr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1E47772B-7E22-4A62-B3E5-19FCAEC4982E}"/>
                </a:ext>
              </a:extLst>
            </p:cNvPr>
            <p:cNvSpPr/>
            <p:nvPr/>
          </p:nvSpPr>
          <p:spPr>
            <a:xfrm>
              <a:off x="0" y="0"/>
              <a:ext cx="459808" cy="327016"/>
            </a:xfrm>
            <a:custGeom>
              <a:avLst/>
              <a:gdLst/>
              <a:ahLst/>
              <a:cxnLst/>
              <a:rect l="l" t="t" r="r" b="b"/>
              <a:pathLst>
                <a:path w="459808" h="327016">
                  <a:moveTo>
                    <a:pt x="0" y="0"/>
                  </a:moveTo>
                  <a:lnTo>
                    <a:pt x="459808" y="0"/>
                  </a:lnTo>
                  <a:lnTo>
                    <a:pt x="459808" y="327016"/>
                  </a:lnTo>
                  <a:lnTo>
                    <a:pt x="0" y="327016"/>
                  </a:lnTo>
                  <a:close/>
                </a:path>
              </a:pathLst>
            </a:custGeom>
            <a:blipFill>
              <a:blip r:embed="rId6"/>
              <a:stretch>
                <a:fillRect l="-3340" r="-3340"/>
              </a:stretch>
            </a:blip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pPr defTabSz="609630"/>
              <a:endParaRPr lang="pt-BR" sz="1200" dirty="0">
                <a:solidFill>
                  <a:prstClr val="black"/>
                </a:solidFill>
                <a:latin typeface="Corbel" panose="020B0503020204020204"/>
              </a:endParaRPr>
            </a:p>
          </p:txBody>
        </p:sp>
      </p:grpSp>
      <p:grpSp>
        <p:nvGrpSpPr>
          <p:cNvPr id="16" name="Group 10">
            <a:extLst>
              <a:ext uri="{FF2B5EF4-FFF2-40B4-BE49-F238E27FC236}">
                <a16:creationId xmlns:a16="http://schemas.microsoft.com/office/drawing/2014/main" id="{7C4D5E5A-A5CD-51A2-46D1-A54EEED9C2E7}"/>
              </a:ext>
            </a:extLst>
          </p:cNvPr>
          <p:cNvGrpSpPr/>
          <p:nvPr/>
        </p:nvGrpSpPr>
        <p:grpSpPr>
          <a:xfrm>
            <a:off x="9342759" y="3164702"/>
            <a:ext cx="2320185" cy="1581772"/>
            <a:chOff x="0" y="0"/>
            <a:chExt cx="459808" cy="327016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C96C1B5-D266-5B9E-B94C-55BF0043A95F}"/>
                </a:ext>
              </a:extLst>
            </p:cNvPr>
            <p:cNvSpPr/>
            <p:nvPr/>
          </p:nvSpPr>
          <p:spPr>
            <a:xfrm>
              <a:off x="0" y="0"/>
              <a:ext cx="459808" cy="327016"/>
            </a:xfrm>
            <a:custGeom>
              <a:avLst/>
              <a:gdLst/>
              <a:ahLst/>
              <a:cxnLst/>
              <a:rect l="l" t="t" r="r" b="b"/>
              <a:pathLst>
                <a:path w="459808" h="327016">
                  <a:moveTo>
                    <a:pt x="0" y="0"/>
                  </a:moveTo>
                  <a:lnTo>
                    <a:pt x="459808" y="0"/>
                  </a:lnTo>
                  <a:lnTo>
                    <a:pt x="459808" y="327016"/>
                  </a:lnTo>
                  <a:lnTo>
                    <a:pt x="0" y="327016"/>
                  </a:lnTo>
                  <a:close/>
                </a:path>
              </a:pathLst>
            </a:custGeom>
            <a:blipFill>
              <a:blip r:embed="rId7"/>
              <a:stretch>
                <a:fillRect l="-17733" r="-17733"/>
              </a:stretch>
            </a:blipFill>
            <a:ln w="1047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pPr defTabSz="609630"/>
              <a:endParaRPr lang="pt-BR" sz="1200" dirty="0">
                <a:solidFill>
                  <a:prstClr val="black"/>
                </a:solidFill>
                <a:latin typeface="Corbel" panose="020B0503020204020204"/>
              </a:endParaRPr>
            </a:p>
          </p:txBody>
        </p:sp>
      </p:grpSp>
      <p:sp>
        <p:nvSpPr>
          <p:cNvPr id="18" name="TextBox 14">
            <a:extLst>
              <a:ext uri="{FF2B5EF4-FFF2-40B4-BE49-F238E27FC236}">
                <a16:creationId xmlns:a16="http://schemas.microsoft.com/office/drawing/2014/main" id="{B7AF5EF0-517B-0B52-9570-4EDA3BB789FF}"/>
              </a:ext>
            </a:extLst>
          </p:cNvPr>
          <p:cNvSpPr txBox="1"/>
          <p:nvPr/>
        </p:nvSpPr>
        <p:spPr>
          <a:xfrm>
            <a:off x="1321814" y="4954090"/>
            <a:ext cx="2117229" cy="1160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65"/>
              </a:lnSpc>
            </a:pPr>
            <a:r>
              <a:rPr lang="pt-BR" sz="1400" dirty="0">
                <a:solidFill>
                  <a:sysClr val="windowText" lastClr="000000"/>
                </a:solidFill>
                <a:latin typeface="Montserrat"/>
                <a:sym typeface="Calibri (MS) Bold"/>
              </a:rPr>
              <a:t>Facilita a localização das informações em qualquer sítio oficial </a:t>
            </a:r>
          </a:p>
          <a:p>
            <a:pPr algn="ctr" defTabSz="609630">
              <a:lnSpc>
                <a:spcPts val="2265"/>
              </a:lnSpc>
            </a:pPr>
            <a:endParaRPr lang="pt-BR" sz="1667" b="1" spc="107" dirty="0">
              <a:solidFill>
                <a:srgbClr val="000000"/>
              </a:solidFill>
              <a:latin typeface="Abadi" panose="020B0604020104020204" pitchFamily="34" charset="0"/>
              <a:ea typeface="Calibri" panose="020F0502020204030204" pitchFamily="34" charset="0"/>
              <a:cs typeface="Calibri" panose="020F0502020204030204" pitchFamily="34" charset="0"/>
              <a:sym typeface="Calibri (MS) Bold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B7D75518-FE6D-79FF-02CA-6087398D02BF}"/>
              </a:ext>
            </a:extLst>
          </p:cNvPr>
          <p:cNvSpPr txBox="1"/>
          <p:nvPr/>
        </p:nvSpPr>
        <p:spPr>
          <a:xfrm>
            <a:off x="3782854" y="4954088"/>
            <a:ext cx="2620015" cy="1160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265"/>
              </a:lnSpc>
            </a:pPr>
            <a:r>
              <a:rPr lang="pt-BR" sz="1400" dirty="0">
                <a:solidFill>
                  <a:sysClr val="windowText" lastClr="000000"/>
                </a:solidFill>
                <a:latin typeface="Montserrat"/>
                <a:sym typeface="Calibri (MS) Bold"/>
              </a:rPr>
              <a:t>Potencializa a prestação </a:t>
            </a:r>
          </a:p>
          <a:p>
            <a:pPr algn="ctr" defTabSz="609630">
              <a:lnSpc>
                <a:spcPts val="2265"/>
              </a:lnSpc>
            </a:pPr>
            <a:r>
              <a:rPr lang="pt-BR" sz="1400" dirty="0">
                <a:solidFill>
                  <a:sysClr val="windowText" lastClr="000000"/>
                </a:solidFill>
                <a:latin typeface="Montserrat"/>
                <a:sym typeface="Calibri (MS) Bold"/>
              </a:rPr>
              <a:t>de contas e o exercício </a:t>
            </a:r>
          </a:p>
          <a:p>
            <a:pPr algn="ctr" defTabSz="609630">
              <a:lnSpc>
                <a:spcPts val="2265"/>
              </a:lnSpc>
            </a:pPr>
            <a:r>
              <a:rPr lang="pt-BR" sz="1400" dirty="0">
                <a:solidFill>
                  <a:sysClr val="windowText" lastClr="000000"/>
                </a:solidFill>
                <a:latin typeface="Montserrat"/>
                <a:sym typeface="Calibri (MS) Bold"/>
              </a:rPr>
              <a:t>do controle social</a:t>
            </a:r>
          </a:p>
          <a:p>
            <a:pPr algn="ctr" defTabSz="609630">
              <a:lnSpc>
                <a:spcPts val="2265"/>
              </a:lnSpc>
            </a:pPr>
            <a:endParaRPr lang="pt-BR" sz="1667" b="1" spc="107" dirty="0">
              <a:solidFill>
                <a:srgbClr val="000000"/>
              </a:solidFill>
              <a:latin typeface="Abadi" panose="020B0604020104020204" pitchFamily="34" charset="0"/>
              <a:ea typeface="Calibri" panose="020F0502020204030204" pitchFamily="34" charset="0"/>
              <a:cs typeface="Calibri" panose="020F0502020204030204" pitchFamily="34" charset="0"/>
              <a:sym typeface="Calibri (MS) Bold"/>
            </a:endParaRP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87D58FE2-ED93-0D20-AC60-45B399881F0B}"/>
              </a:ext>
            </a:extLst>
          </p:cNvPr>
          <p:cNvSpPr txBox="1"/>
          <p:nvPr/>
        </p:nvSpPr>
        <p:spPr>
          <a:xfrm>
            <a:off x="6693213" y="4954089"/>
            <a:ext cx="2390659" cy="1160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265"/>
              </a:lnSpc>
            </a:pPr>
            <a:r>
              <a:rPr lang="pt-BR" sz="1400" dirty="0">
                <a:solidFill>
                  <a:sysClr val="windowText" lastClr="000000"/>
                </a:solidFill>
                <a:latin typeface="Montserrat"/>
                <a:sym typeface="Calibri (MS) Bold"/>
              </a:rPr>
              <a:t>Otimiza atendimento de demandas em transparência passiva</a:t>
            </a:r>
          </a:p>
          <a:p>
            <a:pPr algn="ctr" defTabSz="609630">
              <a:lnSpc>
                <a:spcPts val="2265"/>
              </a:lnSpc>
            </a:pPr>
            <a:endParaRPr lang="pt-BR" sz="1667" b="1" spc="107" dirty="0">
              <a:solidFill>
                <a:srgbClr val="000000"/>
              </a:solidFill>
              <a:latin typeface="Abadi" panose="020B0604020104020204" pitchFamily="34" charset="0"/>
              <a:ea typeface="Calibri" panose="020F0502020204030204" pitchFamily="34" charset="0"/>
              <a:cs typeface="Calibri" panose="020F0502020204030204" pitchFamily="34" charset="0"/>
              <a:sym typeface="Calibri (MS) Bold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CDD938F1-4EF5-B042-D3C6-01DF5E64CF6A}"/>
              </a:ext>
            </a:extLst>
          </p:cNvPr>
          <p:cNvSpPr txBox="1"/>
          <p:nvPr/>
        </p:nvSpPr>
        <p:spPr>
          <a:xfrm>
            <a:off x="9181398" y="4954087"/>
            <a:ext cx="2835589" cy="1160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265"/>
              </a:lnSpc>
            </a:pPr>
            <a:r>
              <a:rPr lang="pt-BR" sz="1400" dirty="0">
                <a:solidFill>
                  <a:sysClr val="windowText" lastClr="000000"/>
                </a:solidFill>
                <a:latin typeface="Montserrat"/>
                <a:sym typeface="Calibri (MS) Bold"/>
              </a:rPr>
              <a:t>Contribui para o acompanhamento da gestão e de políticas públicas</a:t>
            </a:r>
          </a:p>
          <a:p>
            <a:pPr algn="ctr" defTabSz="609630">
              <a:lnSpc>
                <a:spcPts val="2265"/>
              </a:lnSpc>
            </a:pPr>
            <a:endParaRPr lang="pt-BR" sz="1667" b="1" spc="107" dirty="0">
              <a:solidFill>
                <a:srgbClr val="000000"/>
              </a:solidFill>
              <a:latin typeface="Abadi" panose="020B0604020104020204" pitchFamily="34" charset="0"/>
              <a:ea typeface="Calibri" panose="020F0502020204030204" pitchFamily="34" charset="0"/>
              <a:cs typeface="Calibri" panose="020F0502020204030204" pitchFamily="34" charset="0"/>
              <a:sym typeface="Calibri (MS) Bold"/>
            </a:endParaRPr>
          </a:p>
        </p:txBody>
      </p:sp>
    </p:spTree>
    <p:extLst>
      <p:ext uri="{BB962C8B-B14F-4D97-AF65-F5344CB8AC3E}">
        <p14:creationId xmlns:p14="http://schemas.microsoft.com/office/powerpoint/2010/main" val="1987252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C5E3C-C804-BE90-C870-CF7B11C1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14DDA-9496-2C5C-E908-00F23D2F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rgbClr val="014B90"/>
                </a:solidFill>
                <a:latin typeface="Bebas Neue" panose="020B0606020202050201" pitchFamily="34" charset="77"/>
              </a:rPr>
              <a:t>SITUAÇÃO ATUAL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874129A-EB35-0EC5-77AE-DF8C6F0CF477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2E04B1C2-A5BC-2763-3F34-258FAA3E54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8C85BC4-502F-441C-A5F8-00E7DEAB05BF}"/>
              </a:ext>
            </a:extLst>
          </p:cNvPr>
          <p:cNvSpPr/>
          <p:nvPr/>
        </p:nvSpPr>
        <p:spPr>
          <a:xfrm>
            <a:off x="1330596" y="2460170"/>
            <a:ext cx="2065747" cy="1304473"/>
          </a:xfrm>
          <a:prstGeom prst="roundRect">
            <a:avLst>
              <a:gd name="adj" fmla="val 8334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Órgão/Entidade preenche o STA</a:t>
            </a:r>
            <a:endParaRPr lang="pt-BR" dirty="0"/>
          </a:p>
        </p:txBody>
      </p:sp>
      <p:cxnSp>
        <p:nvCxnSpPr>
          <p:cNvPr id="6" name="Conector: Curvo 5">
            <a:extLst>
              <a:ext uri="{FF2B5EF4-FFF2-40B4-BE49-F238E27FC236}">
                <a16:creationId xmlns:a16="http://schemas.microsoft.com/office/drawing/2014/main" id="{51C2DE6D-4B8C-F1E4-8A15-368E9231D314}"/>
              </a:ext>
            </a:extLst>
          </p:cNvPr>
          <p:cNvCxnSpPr>
            <a:cxnSpLocks/>
          </p:cNvCxnSpPr>
          <p:nvPr/>
        </p:nvCxnSpPr>
        <p:spPr>
          <a:xfrm>
            <a:off x="3396343" y="3099706"/>
            <a:ext cx="599965" cy="12700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B980276-6B57-F1C6-0227-29FA8FEA7082}"/>
              </a:ext>
            </a:extLst>
          </p:cNvPr>
          <p:cNvSpPr/>
          <p:nvPr/>
        </p:nvSpPr>
        <p:spPr>
          <a:xfrm>
            <a:off x="3996308" y="2460170"/>
            <a:ext cx="1652149" cy="1356737"/>
          </a:xfrm>
          <a:prstGeom prst="roundRect">
            <a:avLst>
              <a:gd name="adj" fmla="val 8334"/>
            </a:avLst>
          </a:prstGeom>
          <a:solidFill>
            <a:schemeClr val="accent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2800" b="1" dirty="0"/>
          </a:p>
          <a:p>
            <a:pPr algn="ctr"/>
            <a:r>
              <a:rPr lang="pt-BR" b="1" dirty="0"/>
              <a:t>CGU realiza a avaliação</a:t>
            </a:r>
            <a:endParaRPr lang="pt-BR" dirty="0"/>
          </a:p>
          <a:p>
            <a:endParaRPr lang="pt-BR" sz="2800" dirty="0"/>
          </a:p>
        </p:txBody>
      </p:sp>
      <p:cxnSp>
        <p:nvCxnSpPr>
          <p:cNvPr id="9" name="Conector: Curvo 8">
            <a:extLst>
              <a:ext uri="{FF2B5EF4-FFF2-40B4-BE49-F238E27FC236}">
                <a16:creationId xmlns:a16="http://schemas.microsoft.com/office/drawing/2014/main" id="{A47808BD-F8A1-BA27-1AC5-B59A56F1A7B8}"/>
              </a:ext>
            </a:extLst>
          </p:cNvPr>
          <p:cNvCxnSpPr>
            <a:cxnSpLocks/>
          </p:cNvCxnSpPr>
          <p:nvPr/>
        </p:nvCxnSpPr>
        <p:spPr>
          <a:xfrm>
            <a:off x="5648457" y="3138538"/>
            <a:ext cx="674604" cy="12700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Losango 10">
            <a:extLst>
              <a:ext uri="{FF2B5EF4-FFF2-40B4-BE49-F238E27FC236}">
                <a16:creationId xmlns:a16="http://schemas.microsoft.com/office/drawing/2014/main" id="{38390B51-C5EA-2C1E-64A9-623DE8405A29}"/>
              </a:ext>
            </a:extLst>
          </p:cNvPr>
          <p:cNvSpPr/>
          <p:nvPr/>
        </p:nvSpPr>
        <p:spPr>
          <a:xfrm>
            <a:off x="6323061" y="2901618"/>
            <a:ext cx="507728" cy="473839"/>
          </a:xfrm>
          <a:prstGeom prst="diamon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cxnSp>
        <p:nvCxnSpPr>
          <p:cNvPr id="12" name="Conector: Curvo 11">
            <a:extLst>
              <a:ext uri="{FF2B5EF4-FFF2-40B4-BE49-F238E27FC236}">
                <a16:creationId xmlns:a16="http://schemas.microsoft.com/office/drawing/2014/main" id="{44386BBC-0489-ED3A-FD36-BFEA98C1F7B7}"/>
              </a:ext>
            </a:extLst>
          </p:cNvPr>
          <p:cNvCxnSpPr>
            <a:cxnSpLocks/>
          </p:cNvCxnSpPr>
          <p:nvPr/>
        </p:nvCxnSpPr>
        <p:spPr>
          <a:xfrm flipV="1">
            <a:off x="6830789" y="2614718"/>
            <a:ext cx="643524" cy="484988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B3C41759-34BF-5C3F-2188-A638BD693A2A}"/>
              </a:ext>
            </a:extLst>
          </p:cNvPr>
          <p:cNvCxnSpPr>
            <a:cxnSpLocks/>
          </p:cNvCxnSpPr>
          <p:nvPr/>
        </p:nvCxnSpPr>
        <p:spPr>
          <a:xfrm>
            <a:off x="6810374" y="3179017"/>
            <a:ext cx="684354" cy="607054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0D4AE88-DC6C-D1DD-DC43-F1437E3F4E09}"/>
              </a:ext>
            </a:extLst>
          </p:cNvPr>
          <p:cNvSpPr/>
          <p:nvPr/>
        </p:nvSpPr>
        <p:spPr>
          <a:xfrm>
            <a:off x="7505393" y="1795233"/>
            <a:ext cx="1784911" cy="1304473"/>
          </a:xfrm>
          <a:prstGeom prst="roundRect">
            <a:avLst>
              <a:gd name="adj" fmla="val 8334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2000" b="1" dirty="0"/>
          </a:p>
          <a:p>
            <a:pPr algn="ctr"/>
            <a:r>
              <a:rPr lang="pt-BR" b="1" dirty="0"/>
              <a:t>Manter as informações atualizadas</a:t>
            </a:r>
            <a:endParaRPr lang="pt-BR" dirty="0"/>
          </a:p>
          <a:p>
            <a:endParaRPr lang="pt-BR" sz="2000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C872FD9-6909-CB46-FCA7-7C1BC1F4C3B1}"/>
              </a:ext>
            </a:extLst>
          </p:cNvPr>
          <p:cNvSpPr/>
          <p:nvPr/>
        </p:nvSpPr>
        <p:spPr>
          <a:xfrm>
            <a:off x="7505393" y="3375457"/>
            <a:ext cx="1860954" cy="1181391"/>
          </a:xfrm>
          <a:prstGeom prst="roundRect">
            <a:avLst>
              <a:gd name="adj" fmla="val 8334"/>
            </a:avLst>
          </a:prstGeom>
          <a:solidFill>
            <a:schemeClr val="accent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2800" b="1" dirty="0"/>
          </a:p>
          <a:p>
            <a:pPr algn="ctr"/>
            <a:r>
              <a:rPr lang="pt-BR" b="1" dirty="0"/>
              <a:t>CGU  faz comentários no STA</a:t>
            </a:r>
            <a:endParaRPr lang="pt-BR" dirty="0"/>
          </a:p>
          <a:p>
            <a:endParaRPr lang="pt-BR" sz="28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14E8078-46B5-34FE-858E-C42B33B0EC28}"/>
              </a:ext>
            </a:extLst>
          </p:cNvPr>
          <p:cNvSpPr txBox="1"/>
          <p:nvPr/>
        </p:nvSpPr>
        <p:spPr>
          <a:xfrm>
            <a:off x="6576925" y="2124707"/>
            <a:ext cx="1209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SIM</a:t>
            </a:r>
          </a:p>
        </p:txBody>
      </p:sp>
      <p:cxnSp>
        <p:nvCxnSpPr>
          <p:cNvPr id="23" name="Conector: Curvo 22">
            <a:extLst>
              <a:ext uri="{FF2B5EF4-FFF2-40B4-BE49-F238E27FC236}">
                <a16:creationId xmlns:a16="http://schemas.microsoft.com/office/drawing/2014/main" id="{930691FB-8813-5B28-626D-478AC70DD535}"/>
              </a:ext>
            </a:extLst>
          </p:cNvPr>
          <p:cNvCxnSpPr>
            <a:cxnSpLocks/>
          </p:cNvCxnSpPr>
          <p:nvPr/>
        </p:nvCxnSpPr>
        <p:spPr>
          <a:xfrm>
            <a:off x="9366347" y="4052095"/>
            <a:ext cx="531514" cy="12700"/>
          </a:xfrm>
          <a:prstGeom prst="curvedConnector3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5581970A-8DD5-0276-AF98-C6A824F1691D}"/>
              </a:ext>
            </a:extLst>
          </p:cNvPr>
          <p:cNvSpPr/>
          <p:nvPr/>
        </p:nvSpPr>
        <p:spPr>
          <a:xfrm>
            <a:off x="9897861" y="3261455"/>
            <a:ext cx="2145317" cy="1409394"/>
          </a:xfrm>
          <a:prstGeom prst="roundRect">
            <a:avLst>
              <a:gd name="adj" fmla="val 8334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Órgão/Entidade faz ajustes no site e atualiza STA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870DA210-F967-5566-8B43-9B3288C4B8A2}"/>
              </a:ext>
            </a:extLst>
          </p:cNvPr>
          <p:cNvGrpSpPr/>
          <p:nvPr/>
        </p:nvGrpSpPr>
        <p:grpSpPr>
          <a:xfrm>
            <a:off x="4806176" y="3908918"/>
            <a:ext cx="5977759" cy="2007087"/>
            <a:chOff x="5983326" y="6305792"/>
            <a:chExt cx="10147903" cy="3485907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CDEA0E57-4FF9-8DCF-0CCA-A59D3BD6A33A}"/>
                </a:ext>
              </a:extLst>
            </p:cNvPr>
            <p:cNvGrpSpPr/>
            <p:nvPr/>
          </p:nvGrpSpPr>
          <p:grpSpPr>
            <a:xfrm>
              <a:off x="5983326" y="6931406"/>
              <a:ext cx="10147903" cy="2860293"/>
              <a:chOff x="5983326" y="6931406"/>
              <a:chExt cx="10147903" cy="2860293"/>
            </a:xfrm>
          </p:grpSpPr>
          <p:cxnSp>
            <p:nvCxnSpPr>
              <p:cNvPr id="30" name="Conector: Angulado 29">
                <a:extLst>
                  <a:ext uri="{FF2B5EF4-FFF2-40B4-BE49-F238E27FC236}">
                    <a16:creationId xmlns:a16="http://schemas.microsoft.com/office/drawing/2014/main" id="{B1AA3931-B2CF-456B-F085-514822DDF18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1749325" y="8407402"/>
                <a:ext cx="4381904" cy="1384297"/>
              </a:xfrm>
              <a:prstGeom prst="bentConnector3">
                <a:avLst>
                  <a:gd name="adj1" fmla="val 50000"/>
                </a:avLst>
              </a:prstGeom>
              <a:ln w="762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: Angulado 30">
                <a:extLst>
                  <a:ext uri="{FF2B5EF4-FFF2-40B4-BE49-F238E27FC236}">
                    <a16:creationId xmlns:a16="http://schemas.microsoft.com/office/drawing/2014/main" id="{C213F0F3-2E55-6846-F250-6EBB5A7576F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983326" y="6931406"/>
                <a:ext cx="5871950" cy="2847415"/>
              </a:xfrm>
              <a:prstGeom prst="bentConnector3">
                <a:avLst>
                  <a:gd name="adj1" fmla="val 50000"/>
                </a:avLst>
              </a:prstGeom>
              <a:ln w="762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Conector: Curvo 27">
              <a:extLst>
                <a:ext uri="{FF2B5EF4-FFF2-40B4-BE49-F238E27FC236}">
                  <a16:creationId xmlns:a16="http://schemas.microsoft.com/office/drawing/2014/main" id="{2AB6EDD1-F4D8-8311-B227-4C4CEA0C875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713467" y="6599425"/>
              <a:ext cx="599965" cy="12700"/>
            </a:xfrm>
            <a:prstGeom prst="curvedConnector3">
              <a:avLst/>
            </a:prstGeom>
            <a:ln w="7620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2FD5B66A-FEE3-CE94-A323-DD226B1A8FEC}"/>
                </a:ext>
              </a:extLst>
            </p:cNvPr>
            <p:cNvCxnSpPr/>
            <p:nvPr/>
          </p:nvCxnSpPr>
          <p:spPr>
            <a:xfrm>
              <a:off x="16131229" y="7581900"/>
              <a:ext cx="0" cy="825502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2E805D7-DB07-0ECC-2D9F-DA08C7BC1165}"/>
              </a:ext>
            </a:extLst>
          </p:cNvPr>
          <p:cNvSpPr/>
          <p:nvPr/>
        </p:nvSpPr>
        <p:spPr>
          <a:xfrm>
            <a:off x="2729666" y="5118966"/>
            <a:ext cx="3266945" cy="1461662"/>
          </a:xfrm>
          <a:prstGeom prst="roundRect">
            <a:avLst>
              <a:gd name="adj" fmla="val 833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b="1" dirty="0"/>
              <a:t>Resultado da avaliação</a:t>
            </a:r>
            <a:r>
              <a:rPr lang="pt-BR" sz="2000" dirty="0"/>
              <a:t> é publicado no </a:t>
            </a:r>
            <a:r>
              <a:rPr lang="pt-BR" sz="2000" b="1" dirty="0"/>
              <a:t>Painel LAI</a:t>
            </a:r>
            <a:r>
              <a:rPr lang="pt-BR" sz="2000" dirty="0"/>
              <a:t> no dia seguinte</a:t>
            </a:r>
          </a:p>
        </p:txBody>
      </p:sp>
      <p:cxnSp>
        <p:nvCxnSpPr>
          <p:cNvPr id="33" name="Conector: Curvo 32">
            <a:extLst>
              <a:ext uri="{FF2B5EF4-FFF2-40B4-BE49-F238E27FC236}">
                <a16:creationId xmlns:a16="http://schemas.microsoft.com/office/drawing/2014/main" id="{52ABC221-A18D-01B8-3D4D-9BC1C47E8DAB}"/>
              </a:ext>
            </a:extLst>
          </p:cNvPr>
          <p:cNvCxnSpPr>
            <a:cxnSpLocks/>
            <a:endCxn id="32" idx="0"/>
          </p:cNvCxnSpPr>
          <p:nvPr/>
        </p:nvCxnSpPr>
        <p:spPr>
          <a:xfrm rot="16200000" flipH="1">
            <a:off x="3712647" y="4468474"/>
            <a:ext cx="1300982" cy="2"/>
          </a:xfrm>
          <a:prstGeom prst="curvedConnector3">
            <a:avLst/>
          </a:prstGeom>
          <a:ln w="571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0496990-D340-B05D-0A16-306540996099}"/>
              </a:ext>
            </a:extLst>
          </p:cNvPr>
          <p:cNvSpPr txBox="1"/>
          <p:nvPr/>
        </p:nvSpPr>
        <p:spPr>
          <a:xfrm>
            <a:off x="6576925" y="3908175"/>
            <a:ext cx="1209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NÃO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104344-F631-B6EB-A7DA-0A9092C6B416}"/>
              </a:ext>
            </a:extLst>
          </p:cNvPr>
          <p:cNvSpPr txBox="1"/>
          <p:nvPr/>
        </p:nvSpPr>
        <p:spPr>
          <a:xfrm>
            <a:off x="5102804" y="514262"/>
            <a:ext cx="10463767" cy="11177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9pPr>
          </a:lstStyle>
          <a:p>
            <a:pPr>
              <a:lnSpc>
                <a:spcPct val="150000"/>
              </a:lnSpc>
            </a:pPr>
            <a:r>
              <a:rPr lang="pt-BR" sz="1750" b="1" dirty="0">
                <a:latin typeface="Montserrat"/>
              </a:rPr>
              <a:t>MONITORAMENTO DA TRANSPARÊNCIA ATIVA PELA CGU:</a:t>
            </a:r>
          </a:p>
          <a:p>
            <a:pPr>
              <a:lnSpc>
                <a:spcPct val="150000"/>
              </a:lnSpc>
            </a:pPr>
            <a:r>
              <a:rPr lang="pt-BR" sz="1400" b="1" dirty="0">
                <a:solidFill>
                  <a:srgbClr val="00B050"/>
                </a:solidFill>
                <a:latin typeface="Montserrat"/>
              </a:rPr>
              <a:t>AVALIAR A CONFORMIDADE POR MEIO DO SISTEMA DE TRANSPARÊNCIA </a:t>
            </a:r>
          </a:p>
          <a:p>
            <a:pPr>
              <a:lnSpc>
                <a:spcPct val="150000"/>
              </a:lnSpc>
            </a:pPr>
            <a:r>
              <a:rPr lang="pt-BR" sz="1400" b="1" dirty="0">
                <a:solidFill>
                  <a:srgbClr val="00B050"/>
                </a:solidFill>
                <a:latin typeface="Montserrat"/>
              </a:rPr>
              <a:t>ATIVA (STA) COM BASE NO GUIA DE TRANSPARÊNCIA ATIVA (GTA)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55B90A9-1857-451E-93CC-072E864EBF3D}"/>
              </a:ext>
            </a:extLst>
          </p:cNvPr>
          <p:cNvSpPr/>
          <p:nvPr/>
        </p:nvSpPr>
        <p:spPr>
          <a:xfrm>
            <a:off x="1726991" y="1514243"/>
            <a:ext cx="2065747" cy="1097960"/>
          </a:xfrm>
          <a:prstGeom prst="roundRect">
            <a:avLst>
              <a:gd name="adj" fmla="val 833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b="1" dirty="0"/>
              <a:t>STA:</a:t>
            </a:r>
            <a:r>
              <a:rPr lang="pt-BR" sz="1100" dirty="0"/>
              <a:t> Formulário de </a:t>
            </a:r>
            <a:r>
              <a:rPr lang="pt-BR" sz="1100" b="1" dirty="0"/>
              <a:t>49 itens</a:t>
            </a:r>
            <a:r>
              <a:rPr lang="pt-BR" sz="1100" dirty="0"/>
              <a:t>, disponível no Fala.BR, que deve ser preenchido e mantido atualizado por todos os órgãos e entidades do PEF</a:t>
            </a:r>
          </a:p>
          <a:p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20369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00C2-5DA3-A124-540E-D6F0EAFC1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93E7A-0B31-4AC8-2FAE-EC657CE8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rgbClr val="014B90"/>
                </a:solidFill>
                <a:latin typeface="Bebas Neue" panose="020B0606020202050201" pitchFamily="34" charset="77"/>
              </a:rPr>
              <a:t>SITUAÇÃO ATUAL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CA52C91-D082-7AC6-5967-1C884B463AC7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7AD0941E-F1A4-C695-7A0B-1D489940F3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F70F517-C94E-96FB-4861-2A532C628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380" y="0"/>
            <a:ext cx="614462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4D04B39-569E-81AF-EB8F-E7CEDE0E81B1}"/>
              </a:ext>
            </a:extLst>
          </p:cNvPr>
          <p:cNvSpPr txBox="1"/>
          <p:nvPr/>
        </p:nvSpPr>
        <p:spPr>
          <a:xfrm>
            <a:off x="1016505" y="1721160"/>
            <a:ext cx="5030875" cy="24565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dirty="0">
                <a:solidFill>
                  <a:sysClr val="windowText" lastClr="000000"/>
                </a:solidFill>
                <a:latin typeface="Montserrat"/>
              </a:rPr>
              <a:t>Guia de Transparência Ativa (GTA)</a:t>
            </a:r>
          </a:p>
          <a:p>
            <a:pPr algn="just">
              <a:lnSpc>
                <a:spcPct val="150000"/>
              </a:lnSpc>
            </a:pPr>
            <a:r>
              <a:rPr lang="pt-BR" sz="1400" u="sng" dirty="0">
                <a:solidFill>
                  <a:sysClr val="windowText" lastClr="000000"/>
                </a:solidFill>
                <a:latin typeface="Montserrat"/>
              </a:rPr>
              <a:t>Padronização:</a:t>
            </a:r>
          </a:p>
          <a:p>
            <a:pPr lvl="1">
              <a:lnSpc>
                <a:spcPct val="150000"/>
              </a:lnSpc>
            </a:pPr>
            <a:r>
              <a:rPr lang="pt-BR" sz="1400" dirty="0">
                <a:solidFill>
                  <a:sysClr val="windowText" lastClr="000000"/>
                </a:solidFill>
                <a:latin typeface="Montserrat"/>
              </a:rPr>
              <a:t>O menu “Acesso à Informação” deve </a:t>
            </a:r>
          </a:p>
          <a:p>
            <a:pPr lvl="1">
              <a:lnSpc>
                <a:spcPct val="150000"/>
              </a:lnSpc>
            </a:pPr>
            <a:r>
              <a:rPr lang="pt-BR" sz="1400" dirty="0">
                <a:solidFill>
                  <a:sysClr val="windowText" lastClr="000000"/>
                </a:solidFill>
                <a:latin typeface="Montserrat"/>
              </a:rPr>
              <a:t>constar do 1º nível do site e ser organizado</a:t>
            </a:r>
          </a:p>
          <a:p>
            <a:pPr lvl="1">
              <a:lnSpc>
                <a:spcPct val="150000"/>
              </a:lnSpc>
            </a:pPr>
            <a:r>
              <a:rPr lang="pt-BR" sz="1400" dirty="0">
                <a:solidFill>
                  <a:sysClr val="windowText" lastClr="000000"/>
                </a:solidFill>
                <a:latin typeface="Montserrat"/>
              </a:rPr>
              <a:t>em submenus, cada um aberto em página própria, conforme a sequência e a nomenclatura definidas no GTA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51F8E61-CD6B-731C-10B1-7CA215A8A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735" y="4054174"/>
            <a:ext cx="2266784" cy="268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0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F38F-6013-5404-5F5A-1D3C7BCE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B5C96-75DA-8623-5ECB-71F73A3C5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rgbClr val="014B90"/>
                </a:solidFill>
                <a:latin typeface="Bebas Neue" panose="020B0606020202050201" pitchFamily="34" charset="77"/>
              </a:rPr>
              <a:t>SITUAÇÃO ATUAL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3CFC4E6-10FD-B7FC-8CAB-AD0FA2307990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F56D16ED-F58E-73EF-0965-F5A66EEEDE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C09B010-9D1A-726B-8BAE-DCE2100A806C}"/>
              </a:ext>
            </a:extLst>
          </p:cNvPr>
          <p:cNvSpPr txBox="1"/>
          <p:nvPr/>
        </p:nvSpPr>
        <p:spPr>
          <a:xfrm>
            <a:off x="1016505" y="1721160"/>
            <a:ext cx="10486647" cy="2358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dirty="0">
                <a:solidFill>
                  <a:sysClr val="windowText" lastClr="000000"/>
                </a:solidFill>
                <a:latin typeface="Montserrat"/>
              </a:rPr>
              <a:t>Sistema de Transparência Ativa (STA) – preenchimento pelo órgão/entidade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ysClr val="windowText" lastClr="000000"/>
                </a:solidFill>
                <a:latin typeface="Montserrat"/>
              </a:rPr>
              <a:t>O órgão/entidade deve responder o item e caso marque ‘Sim’, é necessário informar o link exato de onde está a informação no seu site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ysClr val="windowText" lastClr="000000"/>
                </a:solidFill>
                <a:latin typeface="Montserrat"/>
              </a:rPr>
              <a:t>É possível atualizar o formulário a qualquer tempo, e sempre que um item for alterado seu status voltará a ser “Não verificado”, até que seja analisado pela CGU</a:t>
            </a:r>
          </a:p>
          <a:p>
            <a:pPr algn="just">
              <a:lnSpc>
                <a:spcPct val="150000"/>
              </a:lnSpc>
            </a:pPr>
            <a:endParaRPr lang="pt-BR" sz="1600" dirty="0">
              <a:solidFill>
                <a:sysClr val="windowText" lastClr="000000"/>
              </a:solidFill>
              <a:latin typeface="Montserrat"/>
            </a:endParaRPr>
          </a:p>
        </p:txBody>
      </p:sp>
      <p:pic>
        <p:nvPicPr>
          <p:cNvPr id="3" name="Imagem 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692067C4-AFB4-6ACE-7A92-F8293200A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782" y="3833091"/>
            <a:ext cx="8166272" cy="302491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E69F532-E04D-758A-7D59-B6FBDB1ED586}"/>
              </a:ext>
            </a:extLst>
          </p:cNvPr>
          <p:cNvSpPr/>
          <p:nvPr/>
        </p:nvSpPr>
        <p:spPr>
          <a:xfrm>
            <a:off x="3112655" y="4839855"/>
            <a:ext cx="2900218" cy="2309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618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E43B-8B46-3328-52EF-536D2C36B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BAFED-4A7A-86EE-D585-56629A852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rgbClr val="014B90"/>
                </a:solidFill>
                <a:latin typeface="Bebas Neue" panose="020B0606020202050201" pitchFamily="34" charset="77"/>
              </a:rPr>
              <a:t>SITUAÇÃO ATUAL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80C2A9A-A7EC-229E-5479-BFDAC7EDC78E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53F1341E-3C36-81DC-8DD5-58FE436FF5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375F136-7912-4134-EE48-0753DAF10F15}"/>
              </a:ext>
            </a:extLst>
          </p:cNvPr>
          <p:cNvSpPr txBox="1"/>
          <p:nvPr/>
        </p:nvSpPr>
        <p:spPr>
          <a:xfrm>
            <a:off x="1016505" y="1721160"/>
            <a:ext cx="10486647" cy="28514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dirty="0">
                <a:solidFill>
                  <a:sysClr val="windowText" lastClr="000000"/>
                </a:solidFill>
                <a:latin typeface="Montserrat"/>
              </a:rPr>
              <a:t>Sistema de Transparência Ativa (STA) – avaliação pela CGU</a:t>
            </a:r>
          </a:p>
          <a:p>
            <a:pPr marL="342900" indent="-342900" algn="just">
              <a:buFont typeface="Arial"/>
              <a:buChar char="•"/>
            </a:pPr>
            <a:r>
              <a:rPr lang="pt-BR" sz="1600" dirty="0">
                <a:solidFill>
                  <a:sysClr val="windowText" lastClr="000000"/>
                </a:solidFill>
                <a:latin typeface="Montserrat"/>
              </a:rPr>
              <a:t>Marcações possíveis:</a:t>
            </a:r>
          </a:p>
          <a:p>
            <a:pPr algn="just"/>
            <a:endParaRPr lang="pt-BR" sz="1600" dirty="0">
              <a:solidFill>
                <a:sysClr val="windowText" lastClr="000000"/>
              </a:solidFill>
              <a:latin typeface="Montserrat"/>
            </a:endParaRPr>
          </a:p>
          <a:p>
            <a:pPr marL="800100" lvl="1" indent="-342900" algn="just">
              <a:buFont typeface="Courier New"/>
              <a:buChar char="o"/>
            </a:pPr>
            <a:r>
              <a:rPr lang="pt-BR" sz="1600" b="1" dirty="0">
                <a:solidFill>
                  <a:sysClr val="windowText" lastClr="000000"/>
                </a:solidFill>
                <a:latin typeface="Montserrat"/>
              </a:rPr>
              <a:t>Cumpre: </a:t>
            </a:r>
            <a:r>
              <a:rPr lang="pt-BR" sz="1600" dirty="0">
                <a:solidFill>
                  <a:sysClr val="windowText" lastClr="000000"/>
                </a:solidFill>
                <a:latin typeface="Montserrat"/>
              </a:rPr>
              <a:t>itens validados pela CGU</a:t>
            </a:r>
          </a:p>
          <a:p>
            <a:pPr marL="800100" lvl="1" indent="-342900" algn="just">
              <a:buFont typeface="Courier New"/>
              <a:buChar char="o"/>
            </a:pPr>
            <a:r>
              <a:rPr lang="pt-BR" sz="1600" b="1" dirty="0">
                <a:solidFill>
                  <a:sysClr val="windowText" lastClr="000000"/>
                </a:solidFill>
                <a:latin typeface="Montserrat"/>
              </a:rPr>
              <a:t>Cumpre Parcialmente: </a:t>
            </a:r>
            <a:r>
              <a:rPr lang="pt-BR" sz="1600" dirty="0">
                <a:solidFill>
                  <a:sysClr val="windowText" lastClr="000000"/>
                </a:solidFill>
                <a:latin typeface="Montserrat"/>
              </a:rPr>
              <a:t>itens validados com sugestão de melhorias ou recomendações emitidas incluídas nos comentários</a:t>
            </a:r>
          </a:p>
          <a:p>
            <a:pPr marL="800100" lvl="1" indent="-342900" algn="just">
              <a:buFont typeface="Courier New"/>
              <a:buChar char="o"/>
            </a:pPr>
            <a:r>
              <a:rPr lang="pt-BR" sz="1600" b="1" dirty="0">
                <a:solidFill>
                  <a:sysClr val="windowText" lastClr="000000"/>
                </a:solidFill>
                <a:latin typeface="Montserrat"/>
              </a:rPr>
              <a:t>Não Cumpre: </a:t>
            </a:r>
            <a:r>
              <a:rPr lang="pt-BR" sz="1600" dirty="0">
                <a:solidFill>
                  <a:sysClr val="windowText" lastClr="000000"/>
                </a:solidFill>
                <a:latin typeface="Montserrat"/>
              </a:rPr>
              <a:t>o órgão ou entidade informou que não publica informação obrigatória ou a CGU não localizou a informação no link indicado O órgão/entidade deve responder o item e caso marque ‘Sim’, é necessário informar o link exato de onde está a informação no seu site</a:t>
            </a:r>
          </a:p>
          <a:p>
            <a:pPr algn="just">
              <a:lnSpc>
                <a:spcPct val="150000"/>
              </a:lnSpc>
            </a:pPr>
            <a:endParaRPr lang="pt-BR" sz="1600" dirty="0">
              <a:solidFill>
                <a:sysClr val="windowText" lastClr="000000"/>
              </a:solidFill>
              <a:latin typeface="Montserrat"/>
            </a:endParaRPr>
          </a:p>
        </p:txBody>
      </p:sp>
      <p:pic>
        <p:nvPicPr>
          <p:cNvPr id="5" name="Imagem 4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D30852AE-AC31-ED03-3B9D-7FB742622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118" y="4257964"/>
            <a:ext cx="6163420" cy="260003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884ED87-2058-A142-F8CF-2D91786B41D6}"/>
              </a:ext>
            </a:extLst>
          </p:cNvPr>
          <p:cNvSpPr/>
          <p:nvPr/>
        </p:nvSpPr>
        <p:spPr>
          <a:xfrm>
            <a:off x="5263158" y="5069495"/>
            <a:ext cx="2779776" cy="274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chemeClr val="accent2">
                    <a:lumMod val="75000"/>
                  </a:schemeClr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206140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D5E5F-6B41-BE53-97FB-1E2CF2BD2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21EE8-9994-91BE-A95F-04175A682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rgbClr val="014B90"/>
                </a:solidFill>
                <a:latin typeface="Bebas Neue" panose="020B0606020202050201" pitchFamily="34" charset="77"/>
              </a:rPr>
              <a:t>SITUAÇÃO ATUAL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BBF3771-8FB8-14A8-3A8F-77F5C8E28F25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434FCEE5-49D3-FF05-31F2-A16AD6EB65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0C0CCF9-7448-D707-7B0F-FB38A2FDE9C9}"/>
              </a:ext>
            </a:extLst>
          </p:cNvPr>
          <p:cNvSpPr txBox="1"/>
          <p:nvPr/>
        </p:nvSpPr>
        <p:spPr>
          <a:xfrm>
            <a:off x="1016505" y="1721160"/>
            <a:ext cx="10486647" cy="30976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dirty="0">
                <a:solidFill>
                  <a:sysClr val="windowText" lastClr="000000"/>
                </a:solidFill>
                <a:latin typeface="Montserrat"/>
              </a:rPr>
              <a:t>Painel LAI - </a:t>
            </a:r>
            <a:r>
              <a:rPr lang="pt-BR" b="1" dirty="0">
                <a:solidFill>
                  <a:sysClr val="windowText" lastClr="000000"/>
                </a:solidFill>
                <a:latin typeface="Montserrat"/>
                <a:hlinkClick r:id="rId4"/>
              </a:rPr>
              <a:t>https://centralpaineis.cgu.gov.br/visualizar/lai</a:t>
            </a:r>
            <a:endParaRPr lang="pt-BR" b="1" dirty="0">
              <a:solidFill>
                <a:sysClr val="windowText" lastClr="000000"/>
              </a:solidFill>
              <a:latin typeface="Montserrat"/>
            </a:endParaRPr>
          </a:p>
          <a:p>
            <a:pPr algn="just">
              <a:lnSpc>
                <a:spcPct val="150000"/>
              </a:lnSpc>
            </a:pPr>
            <a:endParaRPr lang="pt-BR" sz="1600" dirty="0">
              <a:solidFill>
                <a:sysClr val="windowText" lastClr="000000"/>
              </a:solidFill>
              <a:latin typeface="Montserrat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Montserrat"/>
              </a:rPr>
              <a:t>Índice de cumprimento das obrigações</a:t>
            </a:r>
            <a:r>
              <a:rPr lang="pt-BR" sz="1600" dirty="0">
                <a:latin typeface="Montserrat"/>
              </a:rPr>
              <a:t>, conforme avaliação da CGU no STA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dirty="0">
                <a:latin typeface="Montserrat"/>
              </a:rPr>
              <a:t>Cumprimento das obrigações por assunto e por </a:t>
            </a:r>
            <a:r>
              <a:rPr lang="pt-BR" sz="1600" b="1" dirty="0">
                <a:latin typeface="Montserrat"/>
              </a:rPr>
              <a:t>item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Montserrat"/>
              </a:rPr>
              <a:t>Ranking</a:t>
            </a:r>
            <a:r>
              <a:rPr lang="pt-BR" sz="1600" dirty="0">
                <a:latin typeface="Montserrat"/>
              </a:rPr>
              <a:t> de órgãos e entidades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latin typeface="Montserrat"/>
              </a:rPr>
              <a:t>Desempenho individualizado</a:t>
            </a:r>
            <a:r>
              <a:rPr lang="pt-BR" sz="1600" dirty="0">
                <a:latin typeface="Montserrat"/>
              </a:rPr>
              <a:t>, permitindo comparação com a média do governo e da categoria</a:t>
            </a:r>
          </a:p>
          <a:p>
            <a:pPr algn="just">
              <a:lnSpc>
                <a:spcPct val="150000"/>
              </a:lnSpc>
            </a:pPr>
            <a:endParaRPr lang="pt-BR" sz="1600" dirty="0">
              <a:solidFill>
                <a:sysClr val="windowText" lastClr="000000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867198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B3F8C-7DA5-D6A8-2A03-0FF6CE4A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E02A5-47DE-E728-240D-A2ED42A3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pt-BR" sz="5400">
                <a:solidFill>
                  <a:srgbClr val="014B90"/>
                </a:solidFill>
                <a:latin typeface="Bebas Neue" panose="020B0606020202050201" pitchFamily="34" charset="77"/>
              </a:rPr>
              <a:t>Situação atual</a:t>
            </a:r>
            <a:endParaRPr lang="en-US" sz="5400">
              <a:solidFill>
                <a:srgbClr val="014B90"/>
              </a:solidFill>
              <a:latin typeface="Bebas Neue" panose="020B0606020202050201" pitchFamily="34" charset="77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FA06A71-212B-F294-2B23-E9102250FF03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87A2098-F50E-DF3E-1D39-3AE16966F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297" y="1565335"/>
            <a:ext cx="9830068" cy="4965509"/>
          </a:xfrm>
          <a:prstGeom prst="rect">
            <a:avLst/>
          </a:prstGeom>
        </p:spPr>
      </p:pic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0B0CF528-8E13-2EBD-925B-A967813750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7639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46C6F-DE1E-F89C-376A-375E2D7C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2D637-DB2C-03E7-AF8D-53BA8241D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pt-BR" sz="5400">
                <a:solidFill>
                  <a:srgbClr val="014B90"/>
                </a:solidFill>
                <a:latin typeface="Bebas Neue" panose="020B0606020202050201" pitchFamily="34" charset="77"/>
              </a:rPr>
              <a:t>Situação atual</a:t>
            </a:r>
            <a:endParaRPr lang="en-US" sz="5400">
              <a:solidFill>
                <a:srgbClr val="014B90"/>
              </a:solidFill>
              <a:latin typeface="Bebas Neue" panose="020B0606020202050201" pitchFamily="34" charset="77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27125A5-14A8-B6CE-FF95-244B0CC93D54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2F065AAF-E527-F470-B485-3CED5747CF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08E321F-20A0-F0B1-807D-33705A25D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434" y="1552032"/>
            <a:ext cx="8171269" cy="49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73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A807-B270-BD80-CD73-47BF670D6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E2B58-CBF6-C9CA-EAFE-2A398F8B1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rgbClr val="014B90"/>
                </a:solidFill>
                <a:latin typeface="Bebas Neue" panose="020B0606020202050201" pitchFamily="34" charset="77"/>
              </a:rPr>
              <a:t>A DOR DO USUÁRIO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899EF73-4EA8-D9A5-BBCD-7932CC0D9CC2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55BBAD38-B6FE-A966-950B-9E6A356F90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ECDCC082-2097-81FB-1026-989F432D2CE6}"/>
              </a:ext>
            </a:extLst>
          </p:cNvPr>
          <p:cNvSpPr/>
          <p:nvPr/>
        </p:nvSpPr>
        <p:spPr>
          <a:xfrm>
            <a:off x="1097754" y="1726362"/>
            <a:ext cx="7337916" cy="813816"/>
          </a:xfrm>
          <a:prstGeom prst="roundRect">
            <a:avLst>
              <a:gd name="adj" fmla="val 21098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247D5FC-9206-045B-07AA-CE963E71A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460" y="622137"/>
            <a:ext cx="4043000" cy="6064500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9BC4102F-ADF7-DCDE-44A7-33DFC1A79E31}"/>
              </a:ext>
            </a:extLst>
          </p:cNvPr>
          <p:cNvSpPr/>
          <p:nvPr/>
        </p:nvSpPr>
        <p:spPr>
          <a:xfrm>
            <a:off x="1116445" y="2840571"/>
            <a:ext cx="7337916" cy="813816"/>
          </a:xfrm>
          <a:prstGeom prst="roundRect">
            <a:avLst>
              <a:gd name="adj" fmla="val 21098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29DFB74-5F1D-3756-A39A-7E18C666EC32}"/>
              </a:ext>
            </a:extLst>
          </p:cNvPr>
          <p:cNvSpPr/>
          <p:nvPr/>
        </p:nvSpPr>
        <p:spPr>
          <a:xfrm>
            <a:off x="1097754" y="3954780"/>
            <a:ext cx="7337916" cy="813816"/>
          </a:xfrm>
          <a:prstGeom prst="roundRect">
            <a:avLst>
              <a:gd name="adj" fmla="val 21098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228726C-5028-1208-3F16-305C29CEE4F6}"/>
              </a:ext>
            </a:extLst>
          </p:cNvPr>
          <p:cNvSpPr/>
          <p:nvPr/>
        </p:nvSpPr>
        <p:spPr>
          <a:xfrm>
            <a:off x="1097754" y="5068989"/>
            <a:ext cx="7337916" cy="813816"/>
          </a:xfrm>
          <a:prstGeom prst="roundRect">
            <a:avLst>
              <a:gd name="adj" fmla="val 21098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pt-BR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051642-8D43-E66D-54E2-A0F9DB7E7318}"/>
              </a:ext>
            </a:extLst>
          </p:cNvPr>
          <p:cNvSpPr txBox="1"/>
          <p:nvPr/>
        </p:nvSpPr>
        <p:spPr>
          <a:xfrm>
            <a:off x="1172944" y="1726362"/>
            <a:ext cx="1696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00B050"/>
                </a:solidFill>
              </a:rPr>
              <a:t>Alto volume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13D734F-1BB8-E3DE-BD4E-E4ABB9295394}"/>
              </a:ext>
            </a:extLst>
          </p:cNvPr>
          <p:cNvSpPr txBox="1"/>
          <p:nvPr/>
        </p:nvSpPr>
        <p:spPr>
          <a:xfrm>
            <a:off x="1273520" y="1928013"/>
            <a:ext cx="7074952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pt-BR" sz="1200" b="1" dirty="0">
                <a:latin typeface="Montserrat"/>
              </a:rPr>
              <a:t>Elevada</a:t>
            </a:r>
            <a:r>
              <a:rPr lang="pt-BR" sz="1200" dirty="0">
                <a:latin typeface="Montserrat"/>
              </a:rPr>
              <a:t> quantidade de itens e unidades sob monitoramento. </a:t>
            </a:r>
            <a:r>
              <a:rPr lang="en-US" sz="1200" dirty="0">
                <a:latin typeface="Montserrat"/>
              </a:rPr>
              <a:t>A </a:t>
            </a:r>
            <a:r>
              <a:rPr lang="en-US" sz="1200" dirty="0" err="1">
                <a:latin typeface="Montserrat"/>
              </a:rPr>
              <a:t>conferência</a:t>
            </a:r>
            <a:r>
              <a:rPr lang="en-US" sz="1200" dirty="0">
                <a:latin typeface="Montserrat"/>
              </a:rPr>
              <a:t> individual </a:t>
            </a:r>
            <a:r>
              <a:rPr lang="en-US" sz="1200" dirty="0" err="1">
                <a:latin typeface="Montserrat"/>
              </a:rPr>
              <a:t>consome</a:t>
            </a:r>
            <a:r>
              <a:rPr lang="en-US" sz="1200" dirty="0">
                <a:latin typeface="Montserrat"/>
              </a:rPr>
              <a:t> alto </a:t>
            </a:r>
            <a:r>
              <a:rPr lang="en-US" sz="1200" dirty="0" err="1">
                <a:latin typeface="Montserrat"/>
              </a:rPr>
              <a:t>esforço</a:t>
            </a:r>
            <a:r>
              <a:rPr lang="en-US" sz="1200" dirty="0">
                <a:latin typeface="Montserrat"/>
              </a:rPr>
              <a:t> de tempo e </a:t>
            </a:r>
            <a:r>
              <a:rPr lang="en-US" sz="1200" dirty="0" err="1">
                <a:latin typeface="Montserrat"/>
              </a:rPr>
              <a:t>força</a:t>
            </a:r>
            <a:r>
              <a:rPr lang="en-US" sz="1200" dirty="0">
                <a:latin typeface="Montserrat"/>
              </a:rPr>
              <a:t> de </a:t>
            </a:r>
            <a:r>
              <a:rPr lang="en-US" sz="1200" dirty="0" err="1">
                <a:latin typeface="Montserrat"/>
              </a:rPr>
              <a:t>trabalho</a:t>
            </a:r>
            <a:r>
              <a:rPr lang="en-US" sz="1200" dirty="0">
                <a:latin typeface="Montserrat"/>
              </a:rPr>
              <a:t> (49 </a:t>
            </a:r>
            <a:r>
              <a:rPr lang="en-US" sz="1200" dirty="0" err="1">
                <a:latin typeface="Montserrat"/>
              </a:rPr>
              <a:t>itens</a:t>
            </a:r>
            <a:r>
              <a:rPr lang="en-US" sz="1200" dirty="0">
                <a:latin typeface="Montserrat"/>
              </a:rPr>
              <a:t> x 324 </a:t>
            </a:r>
            <a:r>
              <a:rPr lang="en-US" sz="1200" dirty="0" err="1">
                <a:latin typeface="Montserrat"/>
              </a:rPr>
              <a:t>órgãos</a:t>
            </a:r>
            <a:r>
              <a:rPr lang="en-US" sz="1200" dirty="0">
                <a:latin typeface="Montserrat"/>
              </a:rPr>
              <a:t> = 15.876 </a:t>
            </a:r>
            <a:r>
              <a:rPr lang="en-US" sz="1200" dirty="0" err="1">
                <a:latin typeface="Montserrat"/>
              </a:rPr>
              <a:t>itens</a:t>
            </a:r>
            <a:r>
              <a:rPr lang="en-US" sz="1200" dirty="0">
                <a:latin typeface="Montserrat"/>
              </a:rPr>
              <a:t>)</a:t>
            </a:r>
            <a:endParaRPr lang="pt-BR" sz="1200" dirty="0">
              <a:latin typeface="Montserrat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46A3073-426E-289E-90AE-9F20D606CED3}"/>
              </a:ext>
            </a:extLst>
          </p:cNvPr>
          <p:cNvSpPr txBox="1"/>
          <p:nvPr/>
        </p:nvSpPr>
        <p:spPr>
          <a:xfrm>
            <a:off x="1172944" y="2867233"/>
            <a:ext cx="31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00B050"/>
                </a:solidFill>
              </a:rPr>
              <a:t>Sem alertas automáticos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AE8A31E-B839-BC12-D77E-46D54BCCC5B2}"/>
              </a:ext>
            </a:extLst>
          </p:cNvPr>
          <p:cNvSpPr txBox="1"/>
          <p:nvPr/>
        </p:nvSpPr>
        <p:spPr>
          <a:xfrm>
            <a:off x="1273520" y="3056967"/>
            <a:ext cx="7074952" cy="624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sz="1200" dirty="0">
                <a:latin typeface="Montserrat"/>
              </a:rPr>
              <a:t>O </a:t>
            </a:r>
            <a:r>
              <a:rPr lang="en-US" sz="1200" dirty="0" err="1">
                <a:latin typeface="Montserrat"/>
              </a:rPr>
              <a:t>sistema</a:t>
            </a:r>
            <a:r>
              <a:rPr lang="en-US" sz="1200" dirty="0">
                <a:latin typeface="Montserrat"/>
              </a:rPr>
              <a:t> </a:t>
            </a:r>
            <a:r>
              <a:rPr lang="en-US" sz="1200" b="1" dirty="0" err="1">
                <a:latin typeface="Montserrat"/>
              </a:rPr>
              <a:t>não</a:t>
            </a:r>
            <a:r>
              <a:rPr lang="en-US" sz="1200" b="1" dirty="0">
                <a:latin typeface="Montserrat"/>
              </a:rPr>
              <a:t> </a:t>
            </a:r>
            <a:r>
              <a:rPr lang="en-US" sz="1200" b="1" dirty="0" err="1">
                <a:latin typeface="Montserrat"/>
              </a:rPr>
              <a:t>sinaliza</a:t>
            </a:r>
            <a:r>
              <a:rPr lang="en-US" sz="1200" b="1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atualizações</a:t>
            </a:r>
            <a:r>
              <a:rPr lang="en-US" sz="1200" b="1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nas</a:t>
            </a:r>
            <a:r>
              <a:rPr lang="en-US" sz="1200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páginas</a:t>
            </a:r>
            <a:r>
              <a:rPr lang="en-US" sz="1200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institucionais</a:t>
            </a:r>
            <a:r>
              <a:rPr lang="en-US" sz="1200" dirty="0">
                <a:latin typeface="Montserrat"/>
              </a:rPr>
              <a:t>, </a:t>
            </a:r>
            <a:r>
              <a:rPr lang="en-US" sz="1200" dirty="0" err="1">
                <a:latin typeface="Montserrat"/>
              </a:rPr>
              <a:t>dificultando</a:t>
            </a:r>
            <a:r>
              <a:rPr lang="en-US" sz="1200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avaliações</a:t>
            </a:r>
            <a:r>
              <a:rPr lang="en-US" sz="1200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tempestivas</a:t>
            </a:r>
            <a:endParaRPr lang="pt-BR" sz="1200" dirty="0">
              <a:latin typeface="Montserrat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0C5C7E8-9E7C-C21F-3617-BFA6077AD548}"/>
              </a:ext>
            </a:extLst>
          </p:cNvPr>
          <p:cNvSpPr txBox="1"/>
          <p:nvPr/>
        </p:nvSpPr>
        <p:spPr>
          <a:xfrm>
            <a:off x="1172944" y="3983593"/>
            <a:ext cx="31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00B050"/>
                </a:solidFill>
              </a:rPr>
              <a:t>Periodicidade exigente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F8684B5-550F-ECB3-AD52-AB4CFB03C3A8}"/>
              </a:ext>
            </a:extLst>
          </p:cNvPr>
          <p:cNvSpPr txBox="1"/>
          <p:nvPr/>
        </p:nvSpPr>
        <p:spPr>
          <a:xfrm>
            <a:off x="1292211" y="4173327"/>
            <a:ext cx="7074952" cy="626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sz="1200" dirty="0" err="1">
                <a:latin typeface="Montserrat"/>
              </a:rPr>
              <a:t>Itens</a:t>
            </a:r>
            <a:r>
              <a:rPr lang="en-US" sz="1200" dirty="0">
                <a:latin typeface="Montserrat"/>
              </a:rPr>
              <a:t> com </a:t>
            </a:r>
            <a:r>
              <a:rPr lang="en-US" sz="1200" b="1" dirty="0" err="1">
                <a:latin typeface="Montserrat"/>
              </a:rPr>
              <a:t>periodicidade</a:t>
            </a:r>
            <a:r>
              <a:rPr lang="en-US" sz="1200" b="1" dirty="0">
                <a:latin typeface="Montserrat"/>
              </a:rPr>
              <a:t> </a:t>
            </a:r>
            <a:r>
              <a:rPr lang="en-US" sz="1200" b="1" dirty="0" err="1">
                <a:latin typeface="Montserrat"/>
              </a:rPr>
              <a:t>definida</a:t>
            </a:r>
            <a:r>
              <a:rPr lang="en-US" sz="1200" b="1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exigem</a:t>
            </a:r>
            <a:r>
              <a:rPr lang="en-US" sz="1200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atualização</a:t>
            </a:r>
            <a:r>
              <a:rPr lang="en-US" sz="1200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constante</a:t>
            </a:r>
            <a:r>
              <a:rPr lang="en-US" sz="1200" dirty="0">
                <a:latin typeface="Montserrat"/>
              </a:rPr>
              <a:t> para </a:t>
            </a:r>
            <a:r>
              <a:rPr lang="en-US" sz="1200" dirty="0" err="1">
                <a:latin typeface="Montserrat"/>
              </a:rPr>
              <a:t>evitar</a:t>
            </a:r>
            <a:r>
              <a:rPr lang="en-US" sz="1200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avaliações</a:t>
            </a:r>
            <a:r>
              <a:rPr lang="en-US" sz="1200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defasadas</a:t>
            </a:r>
            <a:r>
              <a:rPr lang="en-US" sz="1200" dirty="0">
                <a:latin typeface="Montserrat"/>
              </a:rPr>
              <a:t> e </a:t>
            </a:r>
            <a:r>
              <a:rPr lang="en-US" sz="1200" dirty="0" err="1">
                <a:latin typeface="Montserrat"/>
              </a:rPr>
              <a:t>resultados</a:t>
            </a:r>
            <a:r>
              <a:rPr lang="en-US" sz="1200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imprecisos</a:t>
            </a:r>
            <a:endParaRPr lang="en-US" sz="1200" dirty="0">
              <a:latin typeface="Montserrat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78096CE-925B-6302-181A-7824433C5D3B}"/>
              </a:ext>
            </a:extLst>
          </p:cNvPr>
          <p:cNvSpPr txBox="1"/>
          <p:nvPr/>
        </p:nvSpPr>
        <p:spPr>
          <a:xfrm>
            <a:off x="1172944" y="5095651"/>
            <a:ext cx="317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00B050"/>
                </a:solidFill>
              </a:rPr>
              <a:t>Capacidade limitada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083AA61-15BE-F5EB-5C03-7BC7AED83B25}"/>
              </a:ext>
            </a:extLst>
          </p:cNvPr>
          <p:cNvSpPr txBox="1"/>
          <p:nvPr/>
        </p:nvSpPr>
        <p:spPr>
          <a:xfrm>
            <a:off x="1292211" y="5276988"/>
            <a:ext cx="7074952" cy="90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sz="1200" dirty="0">
                <a:latin typeface="Montserrat"/>
              </a:rPr>
              <a:t>O </a:t>
            </a:r>
            <a:r>
              <a:rPr lang="en-US" sz="1200" dirty="0" err="1">
                <a:latin typeface="Montserrat"/>
              </a:rPr>
              <a:t>esforço</a:t>
            </a:r>
            <a:r>
              <a:rPr lang="en-US" sz="1200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operacional</a:t>
            </a:r>
            <a:r>
              <a:rPr lang="en-US" sz="1200" dirty="0">
                <a:latin typeface="Montserrat"/>
              </a:rPr>
              <a:t> manual </a:t>
            </a:r>
            <a:r>
              <a:rPr lang="en-US" sz="1200" b="1" dirty="0" err="1">
                <a:latin typeface="Montserrat"/>
              </a:rPr>
              <a:t>limita</a:t>
            </a:r>
            <a:r>
              <a:rPr lang="en-US" sz="1200" b="1" dirty="0">
                <a:latin typeface="Montserrat"/>
              </a:rPr>
              <a:t> a equipe </a:t>
            </a:r>
            <a:r>
              <a:rPr lang="en-US" sz="1200" dirty="0">
                <a:latin typeface="Montserrat"/>
              </a:rPr>
              <a:t>a </a:t>
            </a:r>
            <a:r>
              <a:rPr lang="en-US" sz="1200" dirty="0" err="1">
                <a:latin typeface="Montserrat"/>
              </a:rPr>
              <a:t>análises</a:t>
            </a:r>
            <a:r>
              <a:rPr lang="en-US" sz="1200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mais</a:t>
            </a:r>
            <a:r>
              <a:rPr lang="en-US" sz="1200" dirty="0">
                <a:latin typeface="Montserrat"/>
              </a:rPr>
              <a:t> </a:t>
            </a:r>
            <a:r>
              <a:rPr lang="en-US" sz="1200" dirty="0" err="1">
                <a:latin typeface="Montserrat"/>
              </a:rPr>
              <a:t>consistentes</a:t>
            </a:r>
            <a:r>
              <a:rPr lang="en-US" sz="1200" dirty="0">
                <a:latin typeface="Montserrat"/>
              </a:rPr>
              <a:t> e impede a </a:t>
            </a:r>
            <a:r>
              <a:rPr lang="en-US" sz="1200" dirty="0" err="1">
                <a:latin typeface="Montserrat"/>
              </a:rPr>
              <a:t>expansão</a:t>
            </a:r>
            <a:r>
              <a:rPr lang="en-US" sz="1200" dirty="0">
                <a:latin typeface="Montserrat"/>
              </a:rPr>
              <a:t> do </a:t>
            </a:r>
            <a:r>
              <a:rPr lang="en-US" sz="1200" dirty="0" err="1">
                <a:latin typeface="Montserrat"/>
              </a:rPr>
              <a:t>monitoramento</a:t>
            </a:r>
            <a:endParaRPr lang="en-US" sz="1200" dirty="0">
              <a:latin typeface="Montserrat"/>
            </a:endParaRPr>
          </a:p>
          <a:p>
            <a:pPr>
              <a:lnSpc>
                <a:spcPts val="2200"/>
              </a:lnSpc>
            </a:pPr>
            <a:endParaRPr lang="en-US" sz="1200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47545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8411E-3B83-46BB-45BD-A94EFD7DB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5EF603-457F-217D-9DBB-F9A01BCFD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pt-BR" sz="5400" dirty="0">
                <a:solidFill>
                  <a:srgbClr val="014B90"/>
                </a:solidFill>
                <a:latin typeface="Bebas Neue" panose="020B0606020202050201" pitchFamily="34" charset="77"/>
              </a:rPr>
              <a:t>CONSEQUÊNCIAS</a:t>
            </a:r>
            <a:endParaRPr lang="en-US" sz="5400" dirty="0">
              <a:solidFill>
                <a:srgbClr val="014B90"/>
              </a:solidFill>
              <a:latin typeface="Bebas Neue" panose="020B0606020202050201" pitchFamily="34" charset="77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0D00B12-9B5A-1A83-6C6D-03916AF21977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7F70D60E-0C84-6208-B851-72E0C523EA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A0C7A7F-A01B-CA4C-D83A-A826EA64DFA9}"/>
              </a:ext>
            </a:extLst>
          </p:cNvPr>
          <p:cNvSpPr txBox="1"/>
          <p:nvPr/>
        </p:nvSpPr>
        <p:spPr>
          <a:xfrm>
            <a:off x="1330596" y="1632557"/>
            <a:ext cx="10509470" cy="25385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Montserrat"/>
              </a:rPr>
              <a:t>O </a:t>
            </a:r>
            <a:r>
              <a:rPr lang="pt-BR" b="1" dirty="0">
                <a:latin typeface="Montserrat"/>
              </a:rPr>
              <a:t>elevado esforço operacional manual limita a capacidade da equipe </a:t>
            </a:r>
            <a:r>
              <a:rPr lang="pt-BR" dirty="0">
                <a:latin typeface="Montserrat"/>
              </a:rPr>
              <a:t>em realizar análises mais consistentes ou expandir o monitoramento para outros aspectos da transparência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Montserrat"/>
              </a:rPr>
              <a:t>Grande volume de dados </a:t>
            </a:r>
            <a:r>
              <a:rPr lang="pt-BR" dirty="0">
                <a:latin typeface="Montserrat"/>
              </a:rPr>
              <a:t>que necessitam de </a:t>
            </a:r>
            <a:r>
              <a:rPr lang="pt-BR" b="1" dirty="0">
                <a:latin typeface="Montserrat"/>
              </a:rPr>
              <a:t>reavaliação</a:t>
            </a:r>
            <a:r>
              <a:rPr lang="pt-BR" dirty="0">
                <a:latin typeface="Montserrat"/>
              </a:rPr>
              <a:t> devido ao tempo decorrido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Montserrat"/>
              </a:rPr>
              <a:t>O volume de itens a serem avaliados </a:t>
            </a:r>
            <a:r>
              <a:rPr lang="pt-BR" b="1" dirty="0">
                <a:latin typeface="Montserrat"/>
              </a:rPr>
              <a:t>dificulta o aprimoramento </a:t>
            </a:r>
            <a:r>
              <a:rPr lang="pt-BR" dirty="0">
                <a:latin typeface="Montserrat"/>
              </a:rPr>
              <a:t>das avaliações e </a:t>
            </a:r>
            <a:r>
              <a:rPr lang="pt-BR" b="1" dirty="0">
                <a:latin typeface="Montserrat"/>
              </a:rPr>
              <a:t>prejudica a transparência </a:t>
            </a:r>
            <a:r>
              <a:rPr lang="pt-BR" dirty="0">
                <a:latin typeface="Montserrat"/>
              </a:rPr>
              <a:t>ativa no Poder Executivo federal</a:t>
            </a:r>
          </a:p>
        </p:txBody>
      </p:sp>
    </p:spTree>
    <p:extLst>
      <p:ext uri="{BB962C8B-B14F-4D97-AF65-F5344CB8AC3E}">
        <p14:creationId xmlns:p14="http://schemas.microsoft.com/office/powerpoint/2010/main" val="3033085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4CD8C-C2E5-1F5A-E281-B9F5438A2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7478A-AF23-F269-8D32-F3C6904F6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pt-BR" sz="5400">
                <a:solidFill>
                  <a:srgbClr val="014B90"/>
                </a:solidFill>
                <a:latin typeface="Bebas Neue" panose="020B0606020202050201" pitchFamily="34" charset="77"/>
              </a:rPr>
              <a:t>Dados disponíveis</a:t>
            </a:r>
            <a:endParaRPr lang="en-US" sz="5400">
              <a:solidFill>
                <a:srgbClr val="014B90"/>
              </a:solidFill>
              <a:latin typeface="Bebas Neue" panose="020B0606020202050201" pitchFamily="34" charset="77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2C657B0-C083-C1A0-B6D6-EBCE4281B5DA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70EEF0C0-4276-0E0B-5E0A-6AE474BE15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CC9D03C-205C-A8BF-1286-E1880D6FEAE2}"/>
              </a:ext>
            </a:extLst>
          </p:cNvPr>
          <p:cNvSpPr txBox="1"/>
          <p:nvPr/>
        </p:nvSpPr>
        <p:spPr>
          <a:xfrm>
            <a:off x="1330596" y="2094376"/>
            <a:ext cx="10509470" cy="14252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>
                <a:latin typeface="Montserrat"/>
                <a:hlinkClick r:id="rId4"/>
              </a:rPr>
              <a:t>Painel da LAI</a:t>
            </a:r>
            <a:r>
              <a:rPr lang="pt-BR" sz="2000" b="1" dirty="0">
                <a:latin typeface="Montserrat"/>
              </a:rPr>
              <a:t> – </a:t>
            </a:r>
            <a:r>
              <a:rPr lang="pt-BR" sz="2000" dirty="0">
                <a:latin typeface="Montserrat"/>
              </a:rPr>
              <a:t>aba de Transparência Ativa (índice de cumprimento e desempenho individualizado dos órgãos e entidades na avaliação dos itens do STA)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52962E-B13A-ADE4-1FBB-7AD89A87F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3806" y="3212502"/>
            <a:ext cx="6174660" cy="348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403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FDCA7-BC7C-3EA1-AEEC-616FE8744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9E656-D4D9-EF43-8815-AD6E171D7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96" y="534045"/>
            <a:ext cx="6376307" cy="980198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pt-BR" sz="5400">
                <a:solidFill>
                  <a:srgbClr val="014B90"/>
                </a:solidFill>
                <a:latin typeface="Bebas Neue" panose="020B0606020202050201" pitchFamily="34" charset="77"/>
              </a:rPr>
              <a:t>Dados disponíveis</a:t>
            </a:r>
            <a:endParaRPr lang="en-US" sz="5400">
              <a:solidFill>
                <a:srgbClr val="014B90"/>
              </a:solidFill>
              <a:latin typeface="Bebas Neue" panose="020B0606020202050201" pitchFamily="34" charset="77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FD7EB35-4748-239A-F5EC-41DE90E9462C}"/>
              </a:ext>
            </a:extLst>
          </p:cNvPr>
          <p:cNvSpPr/>
          <p:nvPr/>
        </p:nvSpPr>
        <p:spPr>
          <a:xfrm rot="10800000">
            <a:off x="0" y="0"/>
            <a:ext cx="842963" cy="6879711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0702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pic>
        <p:nvPicPr>
          <p:cNvPr id="24" name="Espaço Reservado para Conteúdo 7" descr="CGU LAB.jpg">
            <a:extLst>
              <a:ext uri="{FF2B5EF4-FFF2-40B4-BE49-F238E27FC236}">
                <a16:creationId xmlns:a16="http://schemas.microsoft.com/office/drawing/2014/main" id="{A4EC777A-D475-C385-243D-7557CAE202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9" t="67768" r="20857" b="14001"/>
          <a:stretch/>
        </p:blipFill>
        <p:spPr>
          <a:xfrm>
            <a:off x="10783935" y="6115049"/>
            <a:ext cx="976345" cy="415795"/>
          </a:xfrm>
          <a:prstGeom prst="rect">
            <a:avLst/>
          </a:prstGeom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133CF84-6B5F-7884-3588-C036190CB78C}"/>
              </a:ext>
            </a:extLst>
          </p:cNvPr>
          <p:cNvSpPr txBox="1"/>
          <p:nvPr/>
        </p:nvSpPr>
        <p:spPr>
          <a:xfrm>
            <a:off x="1330596" y="2094376"/>
            <a:ext cx="5158694" cy="37335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>
                <a:latin typeface="Montserrat"/>
                <a:hlinkClick r:id="rId4"/>
              </a:rPr>
              <a:t>Guia de Transparência Ativa (GTA) </a:t>
            </a:r>
            <a:r>
              <a:rPr lang="pt-BR" sz="2000" dirty="0">
                <a:latin typeface="Montserrat"/>
              </a:rPr>
              <a:t>- um compilado de disposições normativas, elaborado pela CGU. O objetivo é auxiliar no correto cumprimento das obrigações de transparência ativa previstas na LAI, no Decreto nº 7.724/2012, e em demais normas que regem o assunto.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6D7892D-B637-5C04-9542-86B3FDF246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3587" y="1514243"/>
            <a:ext cx="3805084" cy="513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13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00656-D326-5FD1-5D5B-2BAA8985B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Pessoas sentadas ao redor de uma mesa com cadeiras&#10;&#10;O conteúdo gerado por IA pode estar incorreto.">
            <a:extLst>
              <a:ext uri="{FF2B5EF4-FFF2-40B4-BE49-F238E27FC236}">
                <a16:creationId xmlns:a16="http://schemas.microsoft.com/office/drawing/2014/main" id="{A048DD5E-35DF-B612-4F08-1F4050F08E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0945" cy="685799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369E1B7-36A5-C77C-0A2E-2649B5117540}"/>
              </a:ext>
            </a:extLst>
          </p:cNvPr>
          <p:cNvSpPr/>
          <p:nvPr/>
        </p:nvSpPr>
        <p:spPr>
          <a:xfrm rot="10800000"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51000">
                <a:srgbClr val="0171BD">
                  <a:alpha val="86620"/>
                </a:srgbClr>
              </a:gs>
              <a:gs pos="0">
                <a:srgbClr val="014B90">
                  <a:alpha val="85894"/>
                </a:srgbClr>
              </a:gs>
              <a:gs pos="100000">
                <a:srgbClr val="00E7F3">
                  <a:alpha val="90218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E7F3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7DE660-85FE-E3B5-5A40-1D588AA7B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334" y="3428995"/>
            <a:ext cx="8226478" cy="1179456"/>
          </a:xfrm>
          <a:ln>
            <a:noFill/>
          </a:ln>
        </p:spPr>
        <p:txBody>
          <a:bodyPr anchor="b">
            <a:normAutofit/>
          </a:bodyPr>
          <a:lstStyle/>
          <a:p>
            <a:r>
              <a:rPr lang="pt-BR">
                <a:solidFill>
                  <a:schemeClr val="bg1"/>
                </a:solidFill>
                <a:latin typeface="Bebas Neue"/>
              </a:rPr>
              <a:t>Dúvidas, esclarecimentos?</a:t>
            </a:r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0146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A8595EE4CEE5C4B9636500030580FAC" ma:contentTypeVersion="16" ma:contentTypeDescription="Crie um novo documento." ma:contentTypeScope="" ma:versionID="6518372d39bc059bc1838895904d03e1">
  <xsd:schema xmlns:xsd="http://www.w3.org/2001/XMLSchema" xmlns:xs="http://www.w3.org/2001/XMLSchema" xmlns:p="http://schemas.microsoft.com/office/2006/metadata/properties" xmlns:ns2="81fc3e50-f2e4-46f0-93ec-64bf8be6bc0b" xmlns:ns3="539cf835-ad65-4748-8263-a1c48b074ca9" targetNamespace="http://schemas.microsoft.com/office/2006/metadata/properties" ma:root="true" ma:fieldsID="b9bc8b307a292468767efe5537aa3eab" ns2:_="" ns3:_="">
    <xsd:import namespace="81fc3e50-f2e4-46f0-93ec-64bf8be6bc0b"/>
    <xsd:import namespace="539cf835-ad65-4748-8263-a1c48b074c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c3e50-f2e4-46f0-93ec-64bf8be6bc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6f3fb4e8-0039-4ebb-8dac-0f2ebc2550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cf835-ad65-4748-8263-a1c48b074ca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642f568-411d-4078-a162-983aab78e7b2}" ma:internalName="TaxCatchAll" ma:showField="CatchAllData" ma:web="539cf835-ad65-4748-8263-a1c48b074c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39cf835-ad65-4748-8263-a1c48b074ca9">
      <UserInfo>
        <DisplayName/>
        <AccountId xsi:nil="true"/>
        <AccountType/>
      </UserInfo>
    </SharedWithUsers>
    <TaxCatchAll xmlns="539cf835-ad65-4748-8263-a1c48b074ca9" xsi:nil="true"/>
    <lcf76f155ced4ddcb4097134ff3c332f xmlns="81fc3e50-f2e4-46f0-93ec-64bf8be6bc0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4C39E4-B51C-4910-843A-38C104500C4D}">
  <ds:schemaRefs>
    <ds:schemaRef ds:uri="539cf835-ad65-4748-8263-a1c48b074ca9"/>
    <ds:schemaRef ds:uri="81fc3e50-f2e4-46f0-93ec-64bf8be6bc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8CD863E-CF75-4A37-A56F-E1A3DE9F72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B39E5F-5F42-42CF-8B29-9134B837A889}">
  <ds:schemaRefs>
    <ds:schemaRef ds:uri="http://purl.org/dc/dcmitype/"/>
    <ds:schemaRef ds:uri="http://schemas.microsoft.com/office/2006/documentManagement/types"/>
    <ds:schemaRef ds:uri="81fc3e50-f2e4-46f0-93ec-64bf8be6bc0b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39cf835-ad65-4748-8263-a1c48b074ca9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6678d9fe-0921-417d-8411-5f1c18defbbb}" enabled="0" method="" siteId="{6678d9fe-0921-417d-8411-5f1c18defbb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1152</Words>
  <Application>Microsoft Office PowerPoint</Application>
  <PresentationFormat>Widescreen</PresentationFormat>
  <Paragraphs>146</Paragraphs>
  <Slides>19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9" baseType="lpstr">
      <vt:lpstr>Abadi</vt:lpstr>
      <vt:lpstr>Aptos</vt:lpstr>
      <vt:lpstr>Aptos Display</vt:lpstr>
      <vt:lpstr>Arial</vt:lpstr>
      <vt:lpstr>Bebas Neue</vt:lpstr>
      <vt:lpstr>Calibri</vt:lpstr>
      <vt:lpstr>Corbel</vt:lpstr>
      <vt:lpstr>Courier New</vt:lpstr>
      <vt:lpstr>Montserrat</vt:lpstr>
      <vt:lpstr>Tema do Office</vt:lpstr>
      <vt:lpstr> </vt:lpstr>
      <vt:lpstr>Quem somos</vt:lpstr>
      <vt:lpstr>Quem somos</vt:lpstr>
      <vt:lpstr>O desafio</vt:lpstr>
      <vt:lpstr>cONTEXTO</vt:lpstr>
      <vt:lpstr>CONTEXTO</vt:lpstr>
      <vt:lpstr>CONTEXTO</vt:lpstr>
      <vt:lpstr>SITUAÇÃO ATUAL</vt:lpstr>
      <vt:lpstr>SITUAÇÃO ATUAL</vt:lpstr>
      <vt:lpstr>SITUAÇÃO ATUAL</vt:lpstr>
      <vt:lpstr>SITUAÇÃO ATUAL</vt:lpstr>
      <vt:lpstr>SITUAÇÃO ATUAL</vt:lpstr>
      <vt:lpstr>Situação atual</vt:lpstr>
      <vt:lpstr>Situação atual</vt:lpstr>
      <vt:lpstr>A DOR DO USUÁRIO</vt:lpstr>
      <vt:lpstr>CONSEQUÊNCIAS</vt:lpstr>
      <vt:lpstr>Dados disponíveis</vt:lpstr>
      <vt:lpstr>Dados disponíveis</vt:lpstr>
      <vt:lpstr>Dúvidas, esclarecimentos?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Anônimo</dc:creator>
  <cp:lastModifiedBy>Larissa do Espirito Santo Andrade</cp:lastModifiedBy>
  <cp:revision>90</cp:revision>
  <dcterms:created xsi:type="dcterms:W3CDTF">2026-03-25T12:26:51Z</dcterms:created>
  <dcterms:modified xsi:type="dcterms:W3CDTF">2026-04-06T23:01:12Z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0x010100AA8595EE4CEE5C4B9636500030580FAC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MediaServiceImageTags">
    <vt:lpwstr/>
  </property>
</Properties>
</file>